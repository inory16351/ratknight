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6604c5a-2e77-9fe4-e8c1-33a81828db2f}">
          <p14:sldIdLst>
            <p14:sldId id="256"/>
          </p14:sldIdLst>
        </p14:section>
        <p14:section name="개요" id="{82daec75-72d3-6b53-740c-6bbf587f26ee}">
          <p14:sldIdLst>
            <p14:sldId id="257"/>
            <p14:sldId id="258"/>
            <p14:sldId id="259"/>
          </p14:sldIdLst>
        </p14:section>
        <p14:section name="세계관 · 캐릭터" id="{936147b1-384d-db0e-0b11-19f546d13176}">
          <p14:sldIdLst>
            <p14:sldId id="260"/>
            <p14:sldId id="261"/>
          </p14:sldIdLst>
        </p14:section>
        <p14:section name="비주얼 · 액션" id="{a02f0e78-3ab8-274a-76fc-5cee4b0b8196}">
          <p14:sldIdLst>
            <p14:sldId id="262"/>
            <p14:sldId id="263"/>
            <p14:sldId id="264"/>
            <p14:sldId id="265"/>
            <p14:sldId id="266"/>
          </p14:sldIdLst>
        </p14:section>
        <p14:section name="시스템" id="{8c0b15aa-4cec-6fd4-1ee0-fc59b2c157fb}">
          <p14:sldIdLst>
            <p14:sldId id="267"/>
            <p14:sldId id="268"/>
            <p14:sldId id="269"/>
          </p14:sldIdLst>
        </p14:section>
        <p14:section name="제작" id="{0859f774-98ac-1777-1ee5-ebfe214bc6e7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찍!찍!!찍!!! IP 확장 작품 기사쥐의 컨셉 기획서 v0.4. 이번 판에서 장르를 메트로베니아로 바꾸고 세계관을 시골·버려진 숲으로 다시 잡음.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FA0"/>
                </a:solidFill>
              </a:rPr>
              <a:t>기사쥐 · 컨셉 기획서 v0.4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B0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d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A33">
              <a:alpha val="65000"/>
            </a:srgbClr>
          </a:solidFill>
          <a:ln w="12700">
            <a:solidFill>
              <a:srgbClr val="1F1A33"/>
            </a:solidFill>
            <a:prstDash val="solid"/>
          </a:ln>
        </p:spPr>
      </p:sp>
      <p:pic>
        <p:nvPicPr>
          <p:cNvPr id="3" name="hero" descr="C:\Project\RatKnight\docs\ppt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60120"/>
            <a:ext cx="2043474" cy="3566160"/>
          </a:xfrm>
          <a:prstGeom prst="rect">
            <a:avLst/>
          </a:prstGeom>
        </p:spPr>
      </p:pic>
      <p:sp>
        <p:nvSpPr>
          <p:cNvPr id="4" name="text_1"/>
          <p:cNvSpPr txBox="1"/>
          <p:nvPr/>
        </p:nvSpPr>
        <p:spPr>
          <a:xfrm>
            <a:off x="640080" y="1234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기사쥐</a:t>
            </a:r>
            <a:endParaRPr lang="en-US" sz="5400" dirty="0"/>
          </a:p>
        </p:txBody>
      </p:sp>
      <p:sp>
        <p:nvSpPr>
          <p:cNvPr id="5" name="text_2"/>
          <p:cNvSpPr txBox="1"/>
          <p:nvPr/>
        </p:nvSpPr>
        <p:spPr>
          <a:xfrm>
            <a:off x="658368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400" kern="0" dirty="0">
                <a:solidFill>
                  <a:schemeClr val="accent3"/>
                </a:solidFill>
              </a:rPr>
              <a:t>RatKnight</a:t>
            </a:r>
            <a:endParaRPr lang="en-US" sz="1800" dirty="0"/>
          </a:p>
        </p:txBody>
      </p:sp>
      <p:sp>
        <p:nvSpPr>
          <p:cNvPr id="6" name="text_3"/>
          <p:cNvSpPr txBox="1"/>
          <p:nvPr/>
        </p:nvSpPr>
        <p:spPr>
          <a:xfrm>
            <a:off x="640080" y="2606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기사를 꿈꾸는 시골 생쥐가 왕국을 향해 떠나는 메트로베니아 액션</a:t>
            </a:r>
            <a:endParaRPr lang="en-US" sz="1500" dirty="0"/>
          </a:p>
        </p:txBody>
      </p:sp>
      <p:sp>
        <p:nvSpPr>
          <p:cNvPr id="7" name="text_4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2EE"/>
                </a:solidFill>
              </a:rPr>
              <a:t>컨셉 기획서  ·  작성자 정승운  ·  작성일 2026-10-28  ·  버전 v0.4</a:t>
            </a:r>
            <a:endParaRPr lang="en-US" sz="11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B0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목차</a:t>
            </a:r>
            <a:endParaRPr lang="en-US" sz="2600" dirty="0"/>
          </a:p>
        </p:txBody>
      </p:sp>
      <p:sp>
        <p:nvSpPr>
          <p:cNvPr id="3" name="card_5"/>
          <p:cNvSpPr/>
          <p:nvPr/>
        </p:nvSpPr>
        <p:spPr>
          <a:xfrm>
            <a:off x="457200" y="1051560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6"/>
          <p:cNvSpPr/>
          <p:nvPr/>
        </p:nvSpPr>
        <p:spPr>
          <a:xfrm>
            <a:off x="566928" y="114300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Text_7"/>
          <p:cNvSpPr txBox="1"/>
          <p:nvPr/>
        </p:nvSpPr>
        <p:spPr>
          <a:xfrm>
            <a:off x="56692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_8"/>
          <p:cNvSpPr txBox="1"/>
          <p:nvPr/>
        </p:nvSpPr>
        <p:spPr>
          <a:xfrm>
            <a:off x="109728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기획의도</a:t>
            </a:r>
            <a:endParaRPr lang="en-US" sz="1500" dirty="0"/>
          </a:p>
        </p:txBody>
      </p:sp>
      <p:sp>
        <p:nvSpPr>
          <p:cNvPr id="7" name="card_9"/>
          <p:cNvSpPr/>
          <p:nvPr/>
        </p:nvSpPr>
        <p:spPr>
          <a:xfrm>
            <a:off x="4663440" y="1051560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_10"/>
          <p:cNvSpPr/>
          <p:nvPr/>
        </p:nvSpPr>
        <p:spPr>
          <a:xfrm>
            <a:off x="4773168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adgeText_11"/>
          <p:cNvSpPr txBox="1"/>
          <p:nvPr/>
        </p:nvSpPr>
        <p:spPr>
          <a:xfrm>
            <a:off x="477316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_12"/>
          <p:cNvSpPr txBox="1"/>
          <p:nvPr/>
        </p:nvSpPr>
        <p:spPr>
          <a:xfrm>
            <a:off x="530352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원페이지 기획서</a:t>
            </a:r>
            <a:endParaRPr lang="en-US" sz="1500" dirty="0"/>
          </a:p>
        </p:txBody>
      </p:sp>
      <p:sp>
        <p:nvSpPr>
          <p:cNvPr id="11" name="card_13"/>
          <p:cNvSpPr/>
          <p:nvPr/>
        </p:nvSpPr>
        <p:spPr>
          <a:xfrm>
            <a:off x="457200" y="1764792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_14"/>
          <p:cNvSpPr/>
          <p:nvPr/>
        </p:nvSpPr>
        <p:spPr>
          <a:xfrm>
            <a:off x="566928" y="185623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badgeText_15"/>
          <p:cNvSpPr txBox="1"/>
          <p:nvPr/>
        </p:nvSpPr>
        <p:spPr>
          <a:xfrm>
            <a:off x="56692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_16"/>
          <p:cNvSpPr txBox="1"/>
          <p:nvPr/>
        </p:nvSpPr>
        <p:spPr>
          <a:xfrm>
            <a:off x="1097280" y="1856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스토리 · 세계관</a:t>
            </a:r>
            <a:endParaRPr lang="en-US" sz="1500" dirty="0"/>
          </a:p>
        </p:txBody>
      </p:sp>
      <p:sp>
        <p:nvSpPr>
          <p:cNvPr id="15" name="card_17"/>
          <p:cNvSpPr/>
          <p:nvPr/>
        </p:nvSpPr>
        <p:spPr>
          <a:xfrm>
            <a:off x="4663440" y="1764792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_18"/>
          <p:cNvSpPr/>
          <p:nvPr/>
        </p:nvSpPr>
        <p:spPr>
          <a:xfrm>
            <a:off x="4773168" y="18562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Text_19"/>
          <p:cNvSpPr txBox="1"/>
          <p:nvPr/>
        </p:nvSpPr>
        <p:spPr>
          <a:xfrm>
            <a:off x="477316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_20"/>
          <p:cNvSpPr txBox="1"/>
          <p:nvPr/>
        </p:nvSpPr>
        <p:spPr>
          <a:xfrm>
            <a:off x="5303520" y="1856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캐릭터</a:t>
            </a:r>
            <a:endParaRPr lang="en-US" sz="1500" dirty="0"/>
          </a:p>
        </p:txBody>
      </p:sp>
      <p:sp>
        <p:nvSpPr>
          <p:cNvPr id="19" name="card_21"/>
          <p:cNvSpPr/>
          <p:nvPr/>
        </p:nvSpPr>
        <p:spPr>
          <a:xfrm>
            <a:off x="457200" y="2478024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_22"/>
          <p:cNvSpPr/>
          <p:nvPr/>
        </p:nvSpPr>
        <p:spPr>
          <a:xfrm>
            <a:off x="566928" y="2569464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badgeText_23"/>
          <p:cNvSpPr txBox="1"/>
          <p:nvPr/>
        </p:nvSpPr>
        <p:spPr>
          <a:xfrm>
            <a:off x="56692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_24"/>
          <p:cNvSpPr txBox="1"/>
          <p:nvPr/>
        </p:nvSpPr>
        <p:spPr>
          <a:xfrm>
            <a:off x="109728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비주얼 가이드</a:t>
            </a:r>
            <a:endParaRPr lang="en-US" sz="1500" dirty="0"/>
          </a:p>
        </p:txBody>
      </p:sp>
      <p:sp>
        <p:nvSpPr>
          <p:cNvPr id="23" name="card_25"/>
          <p:cNvSpPr/>
          <p:nvPr/>
        </p:nvSpPr>
        <p:spPr>
          <a:xfrm>
            <a:off x="4663440" y="2478024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_26"/>
          <p:cNvSpPr/>
          <p:nvPr/>
        </p:nvSpPr>
        <p:spPr>
          <a:xfrm>
            <a:off x="4773168" y="25694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badgeText_27"/>
          <p:cNvSpPr txBox="1"/>
          <p:nvPr/>
        </p:nvSpPr>
        <p:spPr>
          <a:xfrm>
            <a:off x="477316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_28"/>
          <p:cNvSpPr txBox="1"/>
          <p:nvPr/>
        </p:nvSpPr>
        <p:spPr>
          <a:xfrm>
            <a:off x="530352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액션 모션</a:t>
            </a:r>
            <a:endParaRPr lang="en-US" sz="1500" dirty="0"/>
          </a:p>
        </p:txBody>
      </p:sp>
      <p:sp>
        <p:nvSpPr>
          <p:cNvPr id="27" name="card_29"/>
          <p:cNvSpPr/>
          <p:nvPr/>
        </p:nvSpPr>
        <p:spPr>
          <a:xfrm>
            <a:off x="457200" y="3191256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_30"/>
          <p:cNvSpPr/>
          <p:nvPr/>
        </p:nvSpPr>
        <p:spPr>
          <a:xfrm>
            <a:off x="566928" y="32826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badgeText_31"/>
          <p:cNvSpPr txBox="1"/>
          <p:nvPr/>
        </p:nvSpPr>
        <p:spPr>
          <a:xfrm>
            <a:off x="56692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_32"/>
          <p:cNvSpPr txBox="1"/>
          <p:nvPr/>
        </p:nvSpPr>
        <p:spPr>
          <a:xfrm>
            <a:off x="1097280" y="3282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이펙트 가이드</a:t>
            </a:r>
            <a:endParaRPr lang="en-US" sz="1500" dirty="0"/>
          </a:p>
        </p:txBody>
      </p:sp>
      <p:sp>
        <p:nvSpPr>
          <p:cNvPr id="31" name="card_33"/>
          <p:cNvSpPr/>
          <p:nvPr/>
        </p:nvSpPr>
        <p:spPr>
          <a:xfrm>
            <a:off x="4663440" y="3191256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badge_34"/>
          <p:cNvSpPr/>
          <p:nvPr/>
        </p:nvSpPr>
        <p:spPr>
          <a:xfrm>
            <a:off x="4773168" y="32826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badgeText_35"/>
          <p:cNvSpPr txBox="1"/>
          <p:nvPr/>
        </p:nvSpPr>
        <p:spPr>
          <a:xfrm>
            <a:off x="477316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08</a:t>
            </a:r>
            <a:endParaRPr lang="en-US" sz="1300" dirty="0"/>
          </a:p>
        </p:txBody>
      </p:sp>
      <p:sp>
        <p:nvSpPr>
          <p:cNvPr id="34" name="text_36"/>
          <p:cNvSpPr txBox="1"/>
          <p:nvPr/>
        </p:nvSpPr>
        <p:spPr>
          <a:xfrm>
            <a:off x="5303520" y="3282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게임 루프 · 성장</a:t>
            </a:r>
            <a:endParaRPr lang="en-US" sz="1500" dirty="0"/>
          </a:p>
        </p:txBody>
      </p:sp>
      <p:sp>
        <p:nvSpPr>
          <p:cNvPr id="35" name="card_37"/>
          <p:cNvSpPr/>
          <p:nvPr/>
        </p:nvSpPr>
        <p:spPr>
          <a:xfrm>
            <a:off x="457200" y="390448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adge_38"/>
          <p:cNvSpPr/>
          <p:nvPr/>
        </p:nvSpPr>
        <p:spPr>
          <a:xfrm>
            <a:off x="566928" y="399592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badgeText_39"/>
          <p:cNvSpPr txBox="1"/>
          <p:nvPr/>
        </p:nvSpPr>
        <p:spPr>
          <a:xfrm>
            <a:off x="56692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09</a:t>
            </a:r>
            <a:endParaRPr lang="en-US" sz="1300" dirty="0"/>
          </a:p>
        </p:txBody>
      </p:sp>
      <p:sp>
        <p:nvSpPr>
          <p:cNvPr id="38" name="text_40"/>
          <p:cNvSpPr txBox="1"/>
          <p:nvPr/>
        </p:nvSpPr>
        <p:spPr>
          <a:xfrm>
            <a:off x="1097280" y="3995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적 · 월드</a:t>
            </a:r>
            <a:endParaRPr lang="en-US" sz="1500" dirty="0"/>
          </a:p>
        </p:txBody>
      </p:sp>
      <p:sp>
        <p:nvSpPr>
          <p:cNvPr id="39" name="card_41"/>
          <p:cNvSpPr/>
          <p:nvPr/>
        </p:nvSpPr>
        <p:spPr>
          <a:xfrm>
            <a:off x="4663440" y="3904488"/>
            <a:ext cx="40233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badge_42"/>
          <p:cNvSpPr/>
          <p:nvPr/>
        </p:nvSpPr>
        <p:spPr>
          <a:xfrm>
            <a:off x="4773168" y="39959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badgeText_43"/>
          <p:cNvSpPr txBox="1"/>
          <p:nvPr/>
        </p:nvSpPr>
        <p:spPr>
          <a:xfrm>
            <a:off x="477316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text_44"/>
          <p:cNvSpPr txBox="1"/>
          <p:nvPr/>
        </p:nvSpPr>
        <p:spPr>
          <a:xfrm>
            <a:off x="5303520" y="3995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제작 파이프라인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기획의도</a:t>
            </a:r>
            <a:endParaRPr lang="en-US" sz="2600" dirty="0"/>
          </a:p>
        </p:txBody>
      </p:sp>
      <p:sp>
        <p:nvSpPr>
          <p:cNvPr id="3" name="bullets_45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원작 「찍!찍!!찍!!!」 기사쥐 초필살기의 시원한 베기를 한 판 내내 손으로 느끼게 하는 것이 목표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귀여운 겉모습과 날카로운 손맛의 대비. 보기엔 동글동글, 치면 묵직함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탐험과 성장이 엮인 메트로베니아 구조로 전환. 새 기술·능력이 새 길을 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레퍼런스: 할로우 나이트(탐험·성장), 카타나 제로(한 획 베기), 이나리(웅크린 회전 → 관통 돌진)</a:t>
            </a:r>
            <a:endParaRPr lang="en-US" sz="1400" dirty="0"/>
          </a:p>
        </p:txBody>
      </p:sp>
      <p:pic>
        <p:nvPicPr>
          <p:cNvPr id="4" name="scene" descr="C:\Project\RatKnight\docs\ppt\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97280"/>
            <a:ext cx="4023360" cy="2083526"/>
          </a:xfrm>
          <a:prstGeom prst="rect">
            <a:avLst/>
          </a:prstGeom>
        </p:spPr>
      </p:pic>
      <p:sp>
        <p:nvSpPr>
          <p:cNvPr id="5" name="text_46"/>
          <p:cNvSpPr txBox="1"/>
          <p:nvPr/>
        </p:nvSpPr>
        <p:spPr>
          <a:xfrm>
            <a:off x="4663440" y="325395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6FA0"/>
                </a:solidFill>
              </a:rPr>
              <a:t>웹 프로토 실제 화면 — 버려진 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원페이지 기획서</a:t>
            </a:r>
            <a:endParaRPr lang="en-US" sz="2600" dirty="0"/>
          </a:p>
        </p:txBody>
      </p:sp>
      <p:graphicFrame>
        <p:nvGraphicFramePr>
          <p:cNvPr id="5" name="onep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장르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2D 횡스크롤 메트로베니아 액션 플랫포머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플랫폼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PC (웹 프로토 → 웹 빌드 → 유니티 본편)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핵심 재미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몸을 가로지르는 베기의 손맛, 끊김 없는 이동·베기·대시·공중 연계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주인공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기사를 꿈꾸는 시골 견습 생쥐. 한손검(아밍소드) 한 자루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버려진 숲길에서 출발해 왕국에 닿고, 최강의 명검을 손에 넣는 여정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성장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레벨업으로 연계 기술 해금, 능력 아이템으로 새 길 해금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차별점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플랫 그림 + 코드 셰이더·픽셀화, 칼끝을 따라 휘는 칼빛, 원근 레이어 배경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_4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한 줄 요약 — 기사를 꿈꾸는 생쥐가 베는 맛 하나로 왕국까지 끌고 가는 액션 플랫포머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스토리 · 세계관</a:t>
            </a:r>
            <a:endParaRPr lang="en-US" sz="2600" dirty="0"/>
          </a:p>
        </p:txBody>
      </p:sp>
      <p:pic>
        <p:nvPicPr>
          <p:cNvPr id="3" name="world" descr="C:\Project\RatKnight\docs\ppt\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06240" cy="2103120"/>
          </a:xfrm>
          <a:prstGeom prst="rect">
            <a:avLst/>
          </a:prstGeom>
        </p:spPr>
      </p:pic>
      <p:sp>
        <p:nvSpPr>
          <p:cNvPr id="4" name="text_48"/>
          <p:cNvSpPr txBox="1"/>
          <p:nvPr/>
        </p:nvSpPr>
        <p:spPr>
          <a:xfrm>
            <a:off x="457200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6FA0"/>
                </a:solidFill>
              </a:rPr>
              <a:t>지평선 너머 왕국 성 — 여정의 목표가 늘 화면 뒤에 보임</a:t>
            </a:r>
            <a:endParaRPr lang="en-US" sz="1000" dirty="0"/>
          </a:p>
        </p:txBody>
      </p:sp>
      <p:sp>
        <p:nvSpPr>
          <p:cNvPr id="5" name="bullets_49"/>
          <p:cNvSpPr txBox="1"/>
          <p:nvPr/>
        </p:nvSpPr>
        <p:spPr>
          <a:xfrm>
            <a:off x="4937760" y="10515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시골 마을 끝자락에 사는 작은 생쥐. 매일 밤 기사가 되는 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오래 버려진 숲길에서 모험 시작. 낡은 허수아비, 부서진 수레바퀴, "왕국으로" 표지판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숲 → 언덕 → 왕국으로 이어지는 연결된 지역을 탐험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끝에서 기다리는 최강의 명검. 손에 넣으면 칼이 커지는 강화 상태(후속)</a:t>
            </a:r>
            <a:endParaRPr lang="en-US" sz="1300" dirty="0"/>
          </a:p>
        </p:txBody>
      </p:sp>
      <p:sp>
        <p:nvSpPr>
          <p:cNvPr id="6" name="card_50"/>
          <p:cNvSpPr/>
          <p:nvPr/>
        </p:nvSpPr>
        <p:spPr>
          <a:xfrm>
            <a:off x="457200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51"/>
          <p:cNvSpPr txBox="1"/>
          <p:nvPr/>
        </p:nvSpPr>
        <p:spPr>
          <a:xfrm>
            <a:off x="45720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마을 끝 들길</a:t>
            </a:r>
            <a:endParaRPr lang="en-US" sz="1200" dirty="0"/>
          </a:p>
        </p:txBody>
      </p:sp>
      <p:sp>
        <p:nvSpPr>
          <p:cNvPr id="8" name="text_52"/>
          <p:cNvSpPr txBox="1"/>
          <p:nvPr/>
        </p:nvSpPr>
        <p:spPr>
          <a:xfrm>
            <a:off x="1920240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card_53"/>
          <p:cNvSpPr/>
          <p:nvPr/>
        </p:nvSpPr>
        <p:spPr>
          <a:xfrm>
            <a:off x="2139696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_54"/>
          <p:cNvSpPr txBox="1"/>
          <p:nvPr/>
        </p:nvSpPr>
        <p:spPr>
          <a:xfrm>
            <a:off x="2139696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버려진 숲</a:t>
            </a:r>
            <a:endParaRPr lang="en-US" sz="1200" dirty="0"/>
          </a:p>
        </p:txBody>
      </p:sp>
      <p:sp>
        <p:nvSpPr>
          <p:cNvPr id="11" name="text_55"/>
          <p:cNvSpPr txBox="1"/>
          <p:nvPr/>
        </p:nvSpPr>
        <p:spPr>
          <a:xfrm>
            <a:off x="3602736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card_56"/>
          <p:cNvSpPr/>
          <p:nvPr/>
        </p:nvSpPr>
        <p:spPr>
          <a:xfrm>
            <a:off x="3822192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_57"/>
          <p:cNvSpPr txBox="1"/>
          <p:nvPr/>
        </p:nvSpPr>
        <p:spPr>
          <a:xfrm>
            <a:off x="3822192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잊힌 기사의 언덕</a:t>
            </a:r>
            <a:endParaRPr lang="en-US" sz="1200" dirty="0"/>
          </a:p>
        </p:txBody>
      </p:sp>
      <p:sp>
        <p:nvSpPr>
          <p:cNvPr id="14" name="text_58"/>
          <p:cNvSpPr txBox="1"/>
          <p:nvPr/>
        </p:nvSpPr>
        <p:spPr>
          <a:xfrm>
            <a:off x="5285232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card_59"/>
          <p:cNvSpPr/>
          <p:nvPr/>
        </p:nvSpPr>
        <p:spPr>
          <a:xfrm>
            <a:off x="5504688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_60"/>
          <p:cNvSpPr txBox="1"/>
          <p:nvPr/>
        </p:nvSpPr>
        <p:spPr>
          <a:xfrm>
            <a:off x="5504688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…</a:t>
            </a:r>
            <a:endParaRPr lang="en-US" sz="1200" dirty="0"/>
          </a:p>
        </p:txBody>
      </p:sp>
      <p:sp>
        <p:nvSpPr>
          <p:cNvPr id="17" name="text_61"/>
          <p:cNvSpPr txBox="1"/>
          <p:nvPr/>
        </p:nvSpPr>
        <p:spPr>
          <a:xfrm>
            <a:off x="6967728" y="384048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FA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card_62"/>
          <p:cNvSpPr/>
          <p:nvPr/>
        </p:nvSpPr>
        <p:spPr>
          <a:xfrm>
            <a:off x="7187184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_63"/>
          <p:cNvSpPr txBox="1"/>
          <p:nvPr/>
        </p:nvSpPr>
        <p:spPr>
          <a:xfrm>
            <a:off x="7187184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왕국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캐릭터 — 견습 기사쥐</a:t>
            </a:r>
            <a:endParaRPr lang="en-US" sz="2600" dirty="0"/>
          </a:p>
        </p:txBody>
      </p:sp>
      <p:sp>
        <p:nvSpPr>
          <p:cNvPr id="3" name="card_64"/>
          <p:cNvSpPr/>
          <p:nvPr/>
        </p:nvSpPr>
        <p:spPr>
          <a:xfrm>
            <a:off x="457200" y="1051560"/>
            <a:ext cx="2743200" cy="3520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heroCard" descr="C:\Project\RatKnight\docs\ppt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56" y="1188720"/>
            <a:ext cx="1833887" cy="3200400"/>
          </a:xfrm>
          <a:prstGeom prst="rect">
            <a:avLst/>
          </a:prstGeom>
        </p:spPr>
      </p:pic>
      <p:sp>
        <p:nvSpPr>
          <p:cNvPr id="5" name="text_65"/>
          <p:cNvSpPr txBox="1"/>
          <p:nvPr/>
        </p:nvSpPr>
        <p:spPr>
          <a:xfrm>
            <a:off x="3474720" y="1051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비율</a:t>
            </a:r>
            <a:endParaRPr lang="en-US" sz="1300" dirty="0"/>
          </a:p>
        </p:txBody>
      </p:sp>
      <p:sp>
        <p:nvSpPr>
          <p:cNvPr id="6" name="text_66"/>
          <p:cNvSpPr txBox="1"/>
          <p:nvPr/>
        </p:nvSpPr>
        <p:spPr>
          <a:xfrm>
            <a:off x="4297680" y="1051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실크송·스컬풍 꼬마 치비(약 2.2등신). 큰 머리 + 굵은 팔다리</a:t>
            </a:r>
            <a:endParaRPr lang="en-US" sz="1300" dirty="0"/>
          </a:p>
        </p:txBody>
      </p:sp>
      <p:sp>
        <p:nvSpPr>
          <p:cNvPr id="7" name="text_67"/>
          <p:cNvSpPr txBox="1"/>
          <p:nvPr/>
        </p:nvSpPr>
        <p:spPr>
          <a:xfrm>
            <a:off x="3474720" y="1764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색</a:t>
            </a:r>
            <a:endParaRPr lang="en-US" sz="1300" dirty="0"/>
          </a:p>
        </p:txBody>
      </p:sp>
      <p:sp>
        <p:nvSpPr>
          <p:cNvPr id="8" name="text_68"/>
          <p:cNvSpPr txBox="1"/>
          <p:nvPr/>
        </p:nvSpPr>
        <p:spPr>
          <a:xfrm>
            <a:off x="4297680" y="17647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남색 망토 + 금색 장식. 흰·노랑·주황 칼빛이 남색 몸 위에서 가장 잘 보이는 조합</a:t>
            </a:r>
            <a:endParaRPr lang="en-US" sz="1300" dirty="0"/>
          </a:p>
        </p:txBody>
      </p:sp>
      <p:sp>
        <p:nvSpPr>
          <p:cNvPr id="9" name="text_69"/>
          <p:cNvSpPr txBox="1"/>
          <p:nvPr/>
        </p:nvSpPr>
        <p:spPr>
          <a:xfrm>
            <a:off x="3474720" y="24780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무기</a:t>
            </a:r>
            <a:endParaRPr lang="en-US" sz="1300" dirty="0"/>
          </a:p>
        </p:txBody>
      </p:sp>
      <p:sp>
        <p:nvSpPr>
          <p:cNvPr id="10" name="text_70"/>
          <p:cNvSpPr txBox="1"/>
          <p:nvPr/>
        </p:nvSpPr>
        <p:spPr>
          <a:xfrm>
            <a:off x="4297680" y="24780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확정 방향은 기사 한손검(아밍소드). 지금 프로토 리그는 큰 칼 — 한손검 그림으로 교체 예정</a:t>
            </a:r>
            <a:endParaRPr lang="en-US" sz="1300" dirty="0"/>
          </a:p>
        </p:txBody>
      </p:sp>
      <p:sp>
        <p:nvSpPr>
          <p:cNvPr id="11" name="text_71"/>
          <p:cNvSpPr txBox="1"/>
          <p:nvPr/>
        </p:nvSpPr>
        <p:spPr>
          <a:xfrm>
            <a:off x="3474720" y="31912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그림</a:t>
            </a:r>
            <a:endParaRPr lang="en-US" sz="1300" dirty="0"/>
          </a:p>
        </p:txBody>
      </p:sp>
      <p:sp>
        <p:nvSpPr>
          <p:cNvPr id="12" name="text_72"/>
          <p:cNvSpPr txBox="1"/>
          <p:nvPr/>
        </p:nvSpPr>
        <p:spPr>
          <a:xfrm>
            <a:off x="4297680" y="319125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완전 플랫(명암·외곽선 없음)으로 생성. 명암은 코드 셰이더, 도트는 코드 픽셀화</a:t>
            </a:r>
            <a:endParaRPr lang="en-US" sz="1300" dirty="0"/>
          </a:p>
        </p:txBody>
      </p:sp>
      <p:sp>
        <p:nvSpPr>
          <p:cNvPr id="13" name="text_73"/>
          <p:cNvSpPr txBox="1"/>
          <p:nvPr/>
        </p:nvSpPr>
        <p:spPr>
          <a:xfrm>
            <a:off x="3474720" y="3904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애니</a:t>
            </a:r>
            <a:endParaRPr lang="en-US" sz="1300" dirty="0"/>
          </a:p>
        </p:txBody>
      </p:sp>
      <p:sp>
        <p:nvSpPr>
          <p:cNvPr id="14" name="text_74"/>
          <p:cNvSpPr txBox="1"/>
          <p:nvPr/>
        </p:nvSpPr>
        <p:spPr>
          <a:xfrm>
            <a:off x="4297680" y="39044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컷아웃 리그 + 극한 순간만 통그림 프레임 (예: 공처럼 몸을 만 공중 회전)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비주얼 가이드</a:t>
            </a:r>
            <a:endParaRPr lang="en-US" sz="2600" dirty="0"/>
          </a:p>
        </p:txBody>
      </p:sp>
      <p:pic>
        <p:nvPicPr>
          <p:cNvPr id="3" name="sceneBig" descr="C:\Project\RatKnight\docs\ppt\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754880" cy="2462349"/>
          </a:xfrm>
          <a:prstGeom prst="rect">
            <a:avLst/>
          </a:prstGeom>
        </p:spPr>
      </p:pic>
      <p:sp>
        <p:nvSpPr>
          <p:cNvPr id="4" name="badge_75"/>
          <p:cNvSpPr/>
          <p:nvPr/>
        </p:nvSpPr>
        <p:spPr>
          <a:xfrm>
            <a:off x="5486400" y="10515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Text_76"/>
          <p:cNvSpPr txBox="1"/>
          <p:nvPr/>
        </p:nvSpPr>
        <p:spPr>
          <a:xfrm>
            <a:off x="5486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_77"/>
          <p:cNvSpPr txBox="1"/>
          <p:nvPr/>
        </p:nvSpPr>
        <p:spPr>
          <a:xfrm>
            <a:off x="5989320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플랫 → 코드 픽셀화</a:t>
            </a:r>
            <a:endParaRPr lang="en-US" sz="1400" dirty="0"/>
          </a:p>
        </p:txBody>
      </p:sp>
      <p:sp>
        <p:nvSpPr>
          <p:cNvPr id="7" name="text_78"/>
          <p:cNvSpPr txBox="1"/>
          <p:nvPr/>
        </p:nvSpPr>
        <p:spPr>
          <a:xfrm>
            <a:off x="5989320" y="13441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캐릭터·배경·적 모두 플랫하게 생성하고 픽셀화는 코드에서. 그림 규칙 통일</a:t>
            </a:r>
            <a:endParaRPr lang="en-US" sz="1100" dirty="0"/>
          </a:p>
        </p:txBody>
      </p:sp>
      <p:sp>
        <p:nvSpPr>
          <p:cNvPr id="8" name="badge_79"/>
          <p:cNvSpPr/>
          <p:nvPr/>
        </p:nvSpPr>
        <p:spPr>
          <a:xfrm>
            <a:off x="5486400" y="20756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adgeText_80"/>
          <p:cNvSpPr txBox="1"/>
          <p:nvPr/>
        </p:nvSpPr>
        <p:spPr>
          <a:xfrm>
            <a:off x="54864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_81"/>
          <p:cNvSpPr txBox="1"/>
          <p:nvPr/>
        </p:nvSpPr>
        <p:spPr>
          <a:xfrm>
            <a:off x="598932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셰이더 명암</a:t>
            </a:r>
            <a:endParaRPr lang="en-US" sz="1400" dirty="0"/>
          </a:p>
        </p:txBody>
      </p:sp>
      <p:sp>
        <p:nvSpPr>
          <p:cNvPr id="11" name="text_82"/>
          <p:cNvSpPr txBox="1"/>
          <p:nvPr/>
        </p:nvSpPr>
        <p:spPr>
          <a:xfrm>
            <a:off x="5989320" y="23682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실루엣 쿠션 법선 → 셀 2단 + 망점. 빛 각도 24방향 미리 구워 회전해도 빛 유지</a:t>
            </a:r>
            <a:endParaRPr lang="en-US" sz="1100" dirty="0"/>
          </a:p>
        </p:txBody>
      </p:sp>
      <p:sp>
        <p:nvSpPr>
          <p:cNvPr id="12" name="badge_83"/>
          <p:cNvSpPr/>
          <p:nvPr/>
        </p:nvSpPr>
        <p:spPr>
          <a:xfrm>
            <a:off x="5486400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Text_84"/>
          <p:cNvSpPr txBox="1"/>
          <p:nvPr/>
        </p:nvSpPr>
        <p:spPr>
          <a:xfrm>
            <a:off x="54864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_85"/>
          <p:cNvSpPr txBox="1"/>
          <p:nvPr/>
        </p:nvSpPr>
        <p:spPr>
          <a:xfrm>
            <a:off x="5989320" y="3081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원근 레이어</a:t>
            </a:r>
            <a:endParaRPr lang="en-US" sz="1400" dirty="0"/>
          </a:p>
        </p:txBody>
      </p:sp>
      <p:sp>
        <p:nvSpPr>
          <p:cNvPr id="15" name="text_86"/>
          <p:cNvSpPr txBox="1"/>
          <p:nvPr/>
        </p:nvSpPr>
        <p:spPr>
          <a:xfrm>
            <a:off x="5989320" y="33924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하늘·먼 숲·중간 판은 멀수록 흐리고 안개색, 카메라를 느리게 따라감. 앞 판은 흐리고 어둡게 빠르게</a:t>
            </a:r>
            <a:endParaRPr lang="en-US" sz="1100" dirty="0"/>
          </a:p>
        </p:txBody>
      </p:sp>
      <p:sp>
        <p:nvSpPr>
          <p:cNvPr id="16" name="text_87"/>
          <p:cNvSpPr txBox="1"/>
          <p:nvPr/>
        </p:nvSpPr>
        <p:spPr>
          <a:xfrm>
            <a:off x="457200" y="3657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연출 톤: 팝아트 + 젠레스 존 제로 — 효과음 글자, 임팩트 컷(화면 반전), 집중선, 슬로우 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기본 모션</a:t>
            </a:r>
            <a:endParaRPr lang="en-US" sz="2600" dirty="0"/>
          </a:p>
        </p:txBody>
      </p:sp>
      <p:sp>
        <p:nvSpPr>
          <p:cNvPr id="3" name="card_88"/>
          <p:cNvSpPr/>
          <p:nvPr/>
        </p:nvSpPr>
        <p:spPr>
          <a:xfrm>
            <a:off x="457200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_89"/>
          <p:cNvSpPr txBox="1"/>
          <p:nvPr/>
        </p:nvSpPr>
        <p:spPr>
          <a:xfrm>
            <a:off x="621792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대기</a:t>
            </a:r>
            <a:endParaRPr lang="en-US" sz="1500" dirty="0"/>
          </a:p>
        </p:txBody>
      </p:sp>
      <p:sp>
        <p:nvSpPr>
          <p:cNvPr id="5" name="text_90"/>
          <p:cNvSpPr txBox="1"/>
          <p:nvPr/>
        </p:nvSpPr>
        <p:spPr>
          <a:xfrm>
            <a:off x="621792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펜싱 자세, 숨쉬기·망토·꼬리 흔들림</a:t>
            </a:r>
            <a:endParaRPr lang="en-US" sz="1200" dirty="0"/>
          </a:p>
        </p:txBody>
      </p:sp>
      <p:sp>
        <p:nvSpPr>
          <p:cNvPr id="6" name="card_91"/>
          <p:cNvSpPr/>
          <p:nvPr/>
        </p:nvSpPr>
        <p:spPr>
          <a:xfrm>
            <a:off x="2542032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92"/>
          <p:cNvSpPr txBox="1"/>
          <p:nvPr/>
        </p:nvSpPr>
        <p:spPr>
          <a:xfrm>
            <a:off x="2706624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달리기</a:t>
            </a:r>
            <a:endParaRPr lang="en-US" sz="1500" dirty="0"/>
          </a:p>
        </p:txBody>
      </p:sp>
      <p:sp>
        <p:nvSpPr>
          <p:cNvPr id="8" name="text_93"/>
          <p:cNvSpPr txBox="1"/>
          <p:nvPr/>
        </p:nvSpPr>
        <p:spPr>
          <a:xfrm>
            <a:off x="2706624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큰 보폭 치비 달리기, 칼은 등에</a:t>
            </a:r>
            <a:endParaRPr lang="en-US" sz="1200" dirty="0"/>
          </a:p>
        </p:txBody>
      </p:sp>
      <p:sp>
        <p:nvSpPr>
          <p:cNvPr id="9" name="card_94"/>
          <p:cNvSpPr/>
          <p:nvPr/>
        </p:nvSpPr>
        <p:spPr>
          <a:xfrm>
            <a:off x="4626864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_95"/>
          <p:cNvSpPr txBox="1"/>
          <p:nvPr/>
        </p:nvSpPr>
        <p:spPr>
          <a:xfrm>
            <a:off x="4791456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점프 · 낙하</a:t>
            </a:r>
            <a:endParaRPr lang="en-US" sz="1500" dirty="0"/>
          </a:p>
        </p:txBody>
      </p:sp>
      <p:sp>
        <p:nvSpPr>
          <p:cNvPr id="11" name="text_96"/>
          <p:cNvSpPr txBox="1"/>
          <p:nvPr/>
        </p:nvSpPr>
        <p:spPr>
          <a:xfrm>
            <a:off x="4791456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약 122px, 짧게 누르면 낮게</a:t>
            </a:r>
            <a:endParaRPr lang="en-US" sz="1200" dirty="0"/>
          </a:p>
        </p:txBody>
      </p:sp>
      <p:sp>
        <p:nvSpPr>
          <p:cNvPr id="12" name="card_97"/>
          <p:cNvSpPr/>
          <p:nvPr/>
        </p:nvSpPr>
        <p:spPr>
          <a:xfrm>
            <a:off x="6711696" y="109728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_98"/>
          <p:cNvSpPr txBox="1"/>
          <p:nvPr/>
        </p:nvSpPr>
        <p:spPr>
          <a:xfrm>
            <a:off x="6876288" y="1261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이단 점프</a:t>
            </a:r>
            <a:endParaRPr lang="en-US" sz="1500" dirty="0"/>
          </a:p>
        </p:txBody>
      </p:sp>
      <p:sp>
        <p:nvSpPr>
          <p:cNvPr id="14" name="text_99"/>
          <p:cNvSpPr txBox="1"/>
          <p:nvPr/>
        </p:nvSpPr>
        <p:spPr>
          <a:xfrm>
            <a:off x="6876288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능력 아이템. 앞으로 공중제비</a:t>
            </a:r>
            <a:endParaRPr lang="en-US" sz="1200" dirty="0"/>
          </a:p>
        </p:txBody>
      </p:sp>
      <p:sp>
        <p:nvSpPr>
          <p:cNvPr id="15" name="card_100"/>
          <p:cNvSpPr/>
          <p:nvPr/>
        </p:nvSpPr>
        <p:spPr>
          <a:xfrm>
            <a:off x="457200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_101"/>
          <p:cNvSpPr txBox="1"/>
          <p:nvPr/>
        </p:nvSpPr>
        <p:spPr>
          <a:xfrm>
            <a:off x="621792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대시</a:t>
            </a:r>
            <a:endParaRPr lang="en-US" sz="1500" dirty="0"/>
          </a:p>
        </p:txBody>
      </p:sp>
      <p:sp>
        <p:nvSpPr>
          <p:cNvPr id="17" name="text_102"/>
          <p:cNvSpPr txBox="1"/>
          <p:nvPr/>
        </p:nvSpPr>
        <p:spPr>
          <a:xfrm>
            <a:off x="621792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 짧게. 매 프레임 잔상, 공중 1회</a:t>
            </a:r>
            <a:endParaRPr lang="en-US" sz="1200" dirty="0"/>
          </a:p>
        </p:txBody>
      </p:sp>
      <p:sp>
        <p:nvSpPr>
          <p:cNvPr id="18" name="card_103"/>
          <p:cNvSpPr/>
          <p:nvPr/>
        </p:nvSpPr>
        <p:spPr>
          <a:xfrm>
            <a:off x="2542032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_104"/>
          <p:cNvSpPr txBox="1"/>
          <p:nvPr/>
        </p:nvSpPr>
        <p:spPr>
          <a:xfrm>
            <a:off x="2706624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피격</a:t>
            </a:r>
            <a:endParaRPr lang="en-US" sz="1500" dirty="0"/>
          </a:p>
        </p:txBody>
      </p:sp>
      <p:sp>
        <p:nvSpPr>
          <p:cNvPr id="20" name="text_105"/>
          <p:cNvSpPr txBox="1"/>
          <p:nvPr/>
        </p:nvSpPr>
        <p:spPr>
          <a:xfrm>
            <a:off x="2706624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뒤로 밀리며 흰 번쩍, 1초 무적 깜빡임</a:t>
            </a:r>
            <a:endParaRPr lang="en-US" sz="1200" dirty="0"/>
          </a:p>
        </p:txBody>
      </p:sp>
      <p:sp>
        <p:nvSpPr>
          <p:cNvPr id="21" name="card_106"/>
          <p:cNvSpPr/>
          <p:nvPr/>
        </p:nvSpPr>
        <p:spPr>
          <a:xfrm>
            <a:off x="4626864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_107"/>
          <p:cNvSpPr txBox="1"/>
          <p:nvPr/>
        </p:nvSpPr>
        <p:spPr>
          <a:xfrm>
            <a:off x="4791456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사망</a:t>
            </a:r>
            <a:endParaRPr lang="en-US" sz="1500" dirty="0"/>
          </a:p>
        </p:txBody>
      </p:sp>
      <p:sp>
        <p:nvSpPr>
          <p:cNvPr id="23" name="text_108"/>
          <p:cNvSpPr txBox="1"/>
          <p:nvPr/>
        </p:nvSpPr>
        <p:spPr>
          <a:xfrm>
            <a:off x="4791456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무릎 → 쓰러짐, 마지막 쉼터에서 부활</a:t>
            </a:r>
            <a:endParaRPr lang="en-US" sz="1200" dirty="0"/>
          </a:p>
        </p:txBody>
      </p:sp>
      <p:sp>
        <p:nvSpPr>
          <p:cNvPr id="24" name="card_109"/>
          <p:cNvSpPr/>
          <p:nvPr/>
        </p:nvSpPr>
        <p:spPr>
          <a:xfrm>
            <a:off x="6711696" y="27889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_110"/>
          <p:cNvSpPr txBox="1"/>
          <p:nvPr/>
        </p:nvSpPr>
        <p:spPr>
          <a:xfrm>
            <a:off x="6876288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목 보정</a:t>
            </a:r>
            <a:endParaRPr lang="en-US" sz="1500" dirty="0"/>
          </a:p>
        </p:txBody>
      </p:sp>
      <p:sp>
        <p:nvSpPr>
          <p:cNvPr id="26" name="text_111"/>
          <p:cNvSpPr txBox="1"/>
          <p:nvPr/>
        </p:nvSpPr>
        <p:spPr>
          <a:xfrm>
            <a:off x="6876288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머리를 몸통 쪽으로 내려 뜬 느낌 제거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평타 3타 — 끊기지 않는 루프</a:t>
            </a:r>
            <a:endParaRPr lang="en-US" sz="2600" dirty="0"/>
          </a:p>
        </p:txBody>
      </p:sp>
      <p:sp>
        <p:nvSpPr>
          <p:cNvPr id="3" name="card_112"/>
          <p:cNvSpPr/>
          <p:nvPr/>
        </p:nvSpPr>
        <p:spPr>
          <a:xfrm>
            <a:off x="457200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_113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114"/>
          <p:cNvSpPr txBox="1"/>
          <p:nvPr/>
        </p:nvSpPr>
        <p:spPr>
          <a:xfrm>
            <a:off x="594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1타</a:t>
            </a:r>
            <a:endParaRPr lang="en-US" sz="1300" dirty="0"/>
          </a:p>
        </p:txBody>
      </p:sp>
      <p:pic>
        <p:nvPicPr>
          <p:cNvPr id="6" name="combo_115" descr="C:\Project\RatKnight\docs\ppt\slas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0512"/>
            <a:ext cx="2331720" cy="1225141"/>
          </a:xfrm>
          <a:prstGeom prst="rect">
            <a:avLst/>
          </a:prstGeom>
        </p:spPr>
      </p:pic>
      <p:sp>
        <p:nvSpPr>
          <p:cNvPr id="7" name="text_116"/>
          <p:cNvSpPr txBox="1"/>
          <p:nvPr/>
        </p:nvSpPr>
        <p:spPr>
          <a:xfrm>
            <a:off x="621792" y="32004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돌진 공격 1타의 수평 회전을 위로 기울인 올려 베기. 몸을 숙이며 살짝 돌진, 칼빛은 캐릭터 앞에</a:t>
            </a:r>
            <a:endParaRPr lang="en-US" sz="1200" dirty="0"/>
          </a:p>
        </p:txBody>
      </p:sp>
      <p:sp>
        <p:nvSpPr>
          <p:cNvPr id="8" name="card_117"/>
          <p:cNvSpPr/>
          <p:nvPr/>
        </p:nvSpPr>
        <p:spPr>
          <a:xfrm>
            <a:off x="3273552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_118"/>
          <p:cNvSpPr/>
          <p:nvPr/>
        </p:nvSpPr>
        <p:spPr>
          <a:xfrm>
            <a:off x="3410712" y="11887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Text_119"/>
          <p:cNvSpPr txBox="1"/>
          <p:nvPr/>
        </p:nvSpPr>
        <p:spPr>
          <a:xfrm>
            <a:off x="341071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2타</a:t>
            </a:r>
            <a:endParaRPr lang="en-US" sz="1300" dirty="0"/>
          </a:p>
        </p:txBody>
      </p:sp>
      <p:sp>
        <p:nvSpPr>
          <p:cNvPr id="11" name="turn_120"/>
          <p:cNvSpPr/>
          <p:nvPr/>
        </p:nvSpPr>
        <p:spPr>
          <a:xfrm>
            <a:off x="3410712" y="1810512"/>
            <a:ext cx="23317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121"/>
          <p:cNvSpPr txBox="1"/>
          <p:nvPr/>
        </p:nvSpPr>
        <p:spPr>
          <a:xfrm>
            <a:off x="3410712" y="181051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↺  뒤돌기</a:t>
            </a:r>
            <a:endParaRPr lang="en-US" sz="2600" dirty="0"/>
          </a:p>
        </p:txBody>
      </p:sp>
      <p:sp>
        <p:nvSpPr>
          <p:cNvPr id="13" name="text_122"/>
          <p:cNvSpPr txBox="1"/>
          <p:nvPr/>
        </p:nvSpPr>
        <p:spPr>
          <a:xfrm>
            <a:off x="3438144" y="32004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크게 올려치며 칼이 머리 위를 넘어 등 뒤로. 그 회전으로 뒤돌아선 자세 그대로 대기</a:t>
            </a:r>
            <a:endParaRPr lang="en-US" sz="1200" dirty="0"/>
          </a:p>
        </p:txBody>
      </p:sp>
      <p:sp>
        <p:nvSpPr>
          <p:cNvPr id="14" name="card_123"/>
          <p:cNvSpPr/>
          <p:nvPr/>
        </p:nvSpPr>
        <p:spPr>
          <a:xfrm>
            <a:off x="6089904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_124"/>
          <p:cNvSpPr/>
          <p:nvPr/>
        </p:nvSpPr>
        <p:spPr>
          <a:xfrm>
            <a:off x="6227064" y="1188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badgeText_125"/>
          <p:cNvSpPr txBox="1"/>
          <p:nvPr/>
        </p:nvSpPr>
        <p:spPr>
          <a:xfrm>
            <a:off x="6227064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3타</a:t>
            </a:r>
            <a:endParaRPr lang="en-US" sz="1300" dirty="0"/>
          </a:p>
        </p:txBody>
      </p:sp>
      <p:pic>
        <p:nvPicPr>
          <p:cNvPr id="17" name="combo_126" descr="C:\Project\RatKnight\docs\ppt\slash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810512"/>
            <a:ext cx="2331720" cy="1311593"/>
          </a:xfrm>
          <a:prstGeom prst="rect">
            <a:avLst/>
          </a:prstGeom>
        </p:spPr>
      </p:pic>
      <p:sp>
        <p:nvSpPr>
          <p:cNvPr id="18" name="text_127"/>
          <p:cNvSpPr txBox="1"/>
          <p:nvPr/>
        </p:nvSpPr>
        <p:spPr>
          <a:xfrm>
            <a:off x="6254496" y="320040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뒤로 돈 자세에서 앞으로 한 바퀴 돌며 벰. 칼이 등 뒤에 남은 채 끝 → 다시 1타가 그 칼을 앞으로 베어 넘김</a:t>
            </a:r>
            <a:endParaRPr lang="en-US" sz="1200" dirty="0"/>
          </a:p>
        </p:txBody>
      </p:sp>
      <p:sp>
        <p:nvSpPr>
          <p:cNvPr id="19" name="text_12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3타 다음 공격은 다시 1타 — 뒤로 넘어간 칼을 앞으로 베어 넘기며 끊김 없이 반복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공중 · 특수 기술</a:t>
            </a:r>
            <a:endParaRPr lang="en-US" sz="2600" dirty="0"/>
          </a:p>
        </p:txBody>
      </p:sp>
      <p:sp>
        <p:nvSpPr>
          <p:cNvPr id="3" name="card_129"/>
          <p:cNvSpPr/>
          <p:nvPr/>
        </p:nvSpPr>
        <p:spPr>
          <a:xfrm>
            <a:off x="45720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ball" descr="C:\Project\RatKnight\art\knight\v6spin\frames\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560320" cy="1303748"/>
          </a:xfrm>
          <a:prstGeom prst="rect">
            <a:avLst/>
          </a:prstGeom>
        </p:spPr>
      </p:pic>
      <p:sp>
        <p:nvSpPr>
          <p:cNvPr id="5" name="text_130"/>
          <p:cNvSpPr txBox="1"/>
          <p:nvPr/>
        </p:nvSpPr>
        <p:spPr>
          <a:xfrm>
            <a:off x="640080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공중 세로 회전 — Codex 통그림 프레임, 리그와 같은 셰이더</a:t>
            </a:r>
            <a:endParaRPr lang="en-US" sz="1100" dirty="0"/>
          </a:p>
        </p:txBody>
      </p:sp>
      <p:sp>
        <p:nvSpPr>
          <p:cNvPr id="6" name="text_131"/>
          <p:cNvSpPr txBox="1"/>
          <p:nvPr/>
        </p:nvSpPr>
        <p:spPr>
          <a:xfrm>
            <a:off x="356616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공중 세로 회전</a:t>
            </a:r>
            <a:endParaRPr lang="en-US" sz="1500" dirty="0"/>
          </a:p>
        </p:txBody>
      </p:sp>
      <p:sp>
        <p:nvSpPr>
          <p:cNvPr id="7" name="lv_132"/>
          <p:cNvSpPr/>
          <p:nvPr/>
        </p:nvSpPr>
        <p:spPr>
          <a:xfrm>
            <a:off x="8001000" y="1069848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_133"/>
          <p:cNvSpPr txBox="1"/>
          <p:nvPr/>
        </p:nvSpPr>
        <p:spPr>
          <a:xfrm>
            <a:off x="8001000" y="1069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기본</a:t>
            </a:r>
            <a:endParaRPr lang="en-US" sz="1100" dirty="0"/>
          </a:p>
        </p:txBody>
      </p:sp>
      <p:sp>
        <p:nvSpPr>
          <p:cNvPr id="9" name="text_134"/>
          <p:cNvSpPr txBox="1"/>
          <p:nvPr/>
        </p:nvSpPr>
        <p:spPr>
          <a:xfrm>
            <a:off x="356616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공중 공격. 살짝 솟아오르며 몸을 공처럼 말고 앞으로 한 바퀴(제다이 점프). 칼빛이 세로 바퀴로 남음</a:t>
            </a:r>
            <a:endParaRPr lang="en-US" sz="1200" dirty="0"/>
          </a:p>
        </p:txBody>
      </p:sp>
      <p:sp>
        <p:nvSpPr>
          <p:cNvPr id="10" name="text_135"/>
          <p:cNvSpPr txBox="1"/>
          <p:nvPr/>
        </p:nvSpPr>
        <p:spPr>
          <a:xfrm>
            <a:off x="356616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내려찍기</a:t>
            </a:r>
            <a:endParaRPr lang="en-US" sz="1500" dirty="0"/>
          </a:p>
        </p:txBody>
      </p:sp>
      <p:sp>
        <p:nvSpPr>
          <p:cNvPr id="11" name="lv_136"/>
          <p:cNvSpPr/>
          <p:nvPr/>
        </p:nvSpPr>
        <p:spPr>
          <a:xfrm>
            <a:off x="8001000" y="2276856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137"/>
          <p:cNvSpPr txBox="1"/>
          <p:nvPr/>
        </p:nvSpPr>
        <p:spPr>
          <a:xfrm>
            <a:off x="8001000" y="2276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Lv2</a:t>
            </a:r>
            <a:endParaRPr lang="en-US" sz="1100" dirty="0"/>
          </a:p>
        </p:txBody>
      </p:sp>
      <p:sp>
        <p:nvSpPr>
          <p:cNvPr id="13" name="text_138"/>
          <p:cNvSpPr txBox="1"/>
          <p:nvPr/>
        </p:nvSpPr>
        <p:spPr>
          <a:xfrm>
            <a:off x="3566160" y="26243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공중 ↓ + 공격. 급강하해 적에 꽂히면 튕겨 오르며 공중 기술 회복, 땅에 꽂히면 충격파</a:t>
            </a:r>
            <a:endParaRPr lang="en-US" sz="1200" dirty="0"/>
          </a:p>
        </p:txBody>
      </p:sp>
      <p:sp>
        <p:nvSpPr>
          <p:cNvPr id="14" name="text_139"/>
          <p:cNvSpPr txBox="1"/>
          <p:nvPr/>
        </p:nvSpPr>
        <p:spPr>
          <a:xfrm>
            <a:off x="3566160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충전 돌진</a:t>
            </a:r>
            <a:endParaRPr lang="en-US" sz="1500" dirty="0"/>
          </a:p>
        </p:txBody>
      </p:sp>
      <p:sp>
        <p:nvSpPr>
          <p:cNvPr id="15" name="lv_140"/>
          <p:cNvSpPr/>
          <p:nvPr/>
        </p:nvSpPr>
        <p:spPr>
          <a:xfrm>
            <a:off x="8001000" y="3483864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_141"/>
          <p:cNvSpPr txBox="1"/>
          <p:nvPr/>
        </p:nvSpPr>
        <p:spPr>
          <a:xfrm>
            <a:off x="8001000" y="3483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Lv3</a:t>
            </a:r>
            <a:endParaRPr lang="en-US" sz="1100" dirty="0"/>
          </a:p>
        </p:txBody>
      </p:sp>
      <p:sp>
        <p:nvSpPr>
          <p:cNvPr id="17" name="text_142"/>
          <p:cNvSpPr txBox="1"/>
          <p:nvPr/>
        </p:nvSpPr>
        <p:spPr>
          <a:xfrm>
            <a:off x="3566160" y="38313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 길게. 칼을 뒤로 빼며 웅크려 기 모음(빛줄기·줌·섬광) → 떼면 돌진 + 마무리 베기. 충전량만큼 거리·칼빛·판정 증가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이펙트 가이드</a:t>
            </a:r>
            <a:endParaRPr lang="en-US" sz="2600" dirty="0"/>
          </a:p>
        </p:txBody>
      </p:sp>
      <p:pic>
        <p:nvPicPr>
          <p:cNvPr id="3" name="fx" descr="C:\Project\RatKnight\docs\ppt\slas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51560"/>
            <a:ext cx="4114800" cy="2314575"/>
          </a:xfrm>
          <a:prstGeom prst="rect">
            <a:avLst/>
          </a:prstGeom>
        </p:spPr>
      </p:pic>
      <p:sp>
        <p:nvSpPr>
          <p:cNvPr id="4" name="text_143"/>
          <p:cNvSpPr txBox="1"/>
          <p:nvPr/>
        </p:nvSpPr>
        <p:spPr>
          <a:xfrm>
            <a:off x="4572000" y="343928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6FA0"/>
                </a:solidFill>
              </a:rPr>
              <a:t>3타 회전 베기 — 칼에 붙는 리본, 칼 쪽이 두껍고 꼬리는 바늘 끝</a:t>
            </a:r>
            <a:endParaRPr lang="en-US" sz="1000" dirty="0"/>
          </a:p>
        </p:txBody>
      </p:sp>
      <p:sp>
        <p:nvSpPr>
          <p:cNvPr id="5" name="bullets_144"/>
          <p:cNvSpPr txBox="1"/>
          <p:nvPr/>
        </p:nvSpPr>
        <p:spPr>
          <a:xfrm>
            <a:off x="457200" y="105156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칼빛 = 칼끝 길을 따라 휘는 4겹 리본. 나타날 때 흰 단색 → 노랑 → 부서지며 주황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칼에 붙는 머리가 꼬리보다 두껍게, 꼬리부터 차례로 사라짐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평타 칼빛은 공격 방향 앞쪽에. 공중 회전은 몸 중심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타격 = 적 반대쪽에서 섬광·빛줄기·파편이 베기 방향으로 뻗어 나감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효과음 글자, 임팩트 컷(화면 반전), 히트스톱, 막타 슬로우 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기 모으기 = 빛줄기가 몸으로 빨려 듦 + 화면 줌 + 다 차면 MAX 섬광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기본 게임 루프</a:t>
            </a:r>
            <a:endParaRPr lang="en-US" sz="2600" dirty="0"/>
          </a:p>
        </p:txBody>
      </p:sp>
      <p:sp>
        <p:nvSpPr>
          <p:cNvPr id="3" name="card_145"/>
          <p:cNvSpPr/>
          <p:nvPr/>
        </p:nvSpPr>
        <p:spPr>
          <a:xfrm>
            <a:off x="3611880" y="105156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4" name="text_146"/>
          <p:cNvSpPr txBox="1"/>
          <p:nvPr/>
        </p:nvSpPr>
        <p:spPr>
          <a:xfrm>
            <a:off x="3721608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탐험</a:t>
            </a:r>
            <a:endParaRPr lang="en-US" sz="1300" dirty="0"/>
          </a:p>
        </p:txBody>
      </p:sp>
      <p:sp>
        <p:nvSpPr>
          <p:cNvPr id="5" name="text_147"/>
          <p:cNvSpPr txBox="1"/>
          <p:nvPr/>
        </p:nvSpPr>
        <p:spPr>
          <a:xfrm>
            <a:off x="3721608" y="13990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연결된 방, 출구로 이동</a:t>
            </a:r>
            <a:endParaRPr lang="en-US" sz="1000" dirty="0"/>
          </a:p>
        </p:txBody>
      </p:sp>
      <p:sp>
        <p:nvSpPr>
          <p:cNvPr id="6" name="card_148"/>
          <p:cNvSpPr/>
          <p:nvPr/>
        </p:nvSpPr>
        <p:spPr>
          <a:xfrm>
            <a:off x="6225129" y="17602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_149"/>
          <p:cNvSpPr txBox="1"/>
          <p:nvPr/>
        </p:nvSpPr>
        <p:spPr>
          <a:xfrm>
            <a:off x="6334857" y="18242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전투</a:t>
            </a:r>
            <a:endParaRPr lang="en-US" sz="1300" dirty="0"/>
          </a:p>
        </p:txBody>
      </p:sp>
      <p:sp>
        <p:nvSpPr>
          <p:cNvPr id="8" name="text_150"/>
          <p:cNvSpPr txBox="1"/>
          <p:nvPr/>
        </p:nvSpPr>
        <p:spPr>
          <a:xfrm>
            <a:off x="6334857" y="21076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벌레 적과 싸움</a:t>
            </a:r>
            <a:endParaRPr lang="en-US" sz="1000" dirty="0"/>
          </a:p>
        </p:txBody>
      </p:sp>
      <p:sp>
        <p:nvSpPr>
          <p:cNvPr id="9" name="card_151"/>
          <p:cNvSpPr/>
          <p:nvPr/>
        </p:nvSpPr>
        <p:spPr>
          <a:xfrm>
            <a:off x="6225129" y="31775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10" name="text_152"/>
          <p:cNvSpPr txBox="1"/>
          <p:nvPr/>
        </p:nvSpPr>
        <p:spPr>
          <a:xfrm>
            <a:off x="6334857" y="32415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치즈 획득</a:t>
            </a:r>
            <a:endParaRPr lang="en-US" sz="1300" dirty="0"/>
          </a:p>
        </p:txBody>
      </p:sp>
      <p:sp>
        <p:nvSpPr>
          <p:cNvPr id="11" name="text_153"/>
          <p:cNvSpPr txBox="1"/>
          <p:nvPr/>
        </p:nvSpPr>
        <p:spPr>
          <a:xfrm>
            <a:off x="6334857" y="35250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쓰러진 적이 경험치를 떨굼</a:t>
            </a:r>
            <a:endParaRPr lang="en-US" sz="1000" dirty="0"/>
          </a:p>
        </p:txBody>
      </p:sp>
      <p:sp>
        <p:nvSpPr>
          <p:cNvPr id="12" name="card_154"/>
          <p:cNvSpPr/>
          <p:nvPr/>
        </p:nvSpPr>
        <p:spPr>
          <a:xfrm>
            <a:off x="3611880" y="388620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_155"/>
          <p:cNvSpPr txBox="1"/>
          <p:nvPr/>
        </p:nvSpPr>
        <p:spPr>
          <a:xfrm>
            <a:off x="3721608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레벨업</a:t>
            </a:r>
            <a:endParaRPr lang="en-US" sz="1300" dirty="0"/>
          </a:p>
        </p:txBody>
      </p:sp>
      <p:sp>
        <p:nvSpPr>
          <p:cNvPr id="14" name="text_156"/>
          <p:cNvSpPr txBox="1"/>
          <p:nvPr/>
        </p:nvSpPr>
        <p:spPr>
          <a:xfrm>
            <a:off x="3721608" y="4233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연계 기술 해금, 체력 회복</a:t>
            </a:r>
            <a:endParaRPr lang="en-US" sz="1000" dirty="0"/>
          </a:p>
        </p:txBody>
      </p:sp>
      <p:sp>
        <p:nvSpPr>
          <p:cNvPr id="15" name="card_157"/>
          <p:cNvSpPr/>
          <p:nvPr/>
        </p:nvSpPr>
        <p:spPr>
          <a:xfrm>
            <a:off x="998631" y="31775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16" name="text_158"/>
          <p:cNvSpPr txBox="1"/>
          <p:nvPr/>
        </p:nvSpPr>
        <p:spPr>
          <a:xfrm>
            <a:off x="1108359" y="32415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쉼터</a:t>
            </a:r>
            <a:endParaRPr lang="en-US" sz="1300" dirty="0"/>
          </a:p>
        </p:txBody>
      </p:sp>
      <p:sp>
        <p:nvSpPr>
          <p:cNvPr id="17" name="text_159"/>
          <p:cNvSpPr txBox="1"/>
          <p:nvPr/>
        </p:nvSpPr>
        <p:spPr>
          <a:xfrm>
            <a:off x="1108359" y="35250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촛불에 저장·회복, 쓰러지면 부활</a:t>
            </a:r>
            <a:endParaRPr lang="en-US" sz="1000" dirty="0"/>
          </a:p>
        </p:txBody>
      </p:sp>
      <p:sp>
        <p:nvSpPr>
          <p:cNvPr id="18" name="card_160"/>
          <p:cNvSpPr/>
          <p:nvPr/>
        </p:nvSpPr>
        <p:spPr>
          <a:xfrm>
            <a:off x="998631" y="176022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_161"/>
          <p:cNvSpPr txBox="1"/>
          <p:nvPr/>
        </p:nvSpPr>
        <p:spPr>
          <a:xfrm>
            <a:off x="1108359" y="18242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새 길</a:t>
            </a:r>
            <a:endParaRPr lang="en-US" sz="1300" dirty="0"/>
          </a:p>
        </p:txBody>
      </p:sp>
      <p:sp>
        <p:nvSpPr>
          <p:cNvPr id="20" name="text_162"/>
          <p:cNvSpPr txBox="1"/>
          <p:nvPr/>
        </p:nvSpPr>
        <p:spPr>
          <a:xfrm>
            <a:off x="1108359" y="21076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능력 아이템으로 막힌 곳 돌파</a:t>
            </a:r>
            <a:endParaRPr lang="en-US" sz="1000" dirty="0"/>
          </a:p>
        </p:txBody>
      </p:sp>
      <p:sp>
        <p:nvSpPr>
          <p:cNvPr id="21" name="text_163"/>
          <p:cNvSpPr txBox="1"/>
          <p:nvPr/>
        </p:nvSpPr>
        <p:spPr>
          <a:xfrm>
            <a:off x="402336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1"/>
                </a:solidFill>
              </a:rPr>
              <a:t>↻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성장 · 해금</a:t>
            </a:r>
            <a:endParaRPr lang="en-US" sz="2600" dirty="0"/>
          </a:p>
        </p:txBody>
      </p:sp>
      <p:graphicFrame>
        <p:nvGraphicFramePr>
          <p:cNvPr id="14" name="lv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754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레벨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치즈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해금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3타 · 공중 세로 회전 · 대시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내려찍기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Lv3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충전 돌진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Lv4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최대 체력 +1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Lv5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최대 체력 +1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_164"/>
          <p:cNvSpPr/>
          <p:nvPr/>
        </p:nvSpPr>
        <p:spPr>
          <a:xfrm>
            <a:off x="5486400" y="105156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pic>
        <p:nvPicPr>
          <p:cNvPr id="5" name="crumb" descr="C:\Project\RatKnight\art\props\cut\cru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188720"/>
            <a:ext cx="502920" cy="444891"/>
          </a:xfrm>
          <a:prstGeom prst="rect">
            <a:avLst/>
          </a:prstGeom>
        </p:spPr>
      </p:pic>
      <p:sp>
        <p:nvSpPr>
          <p:cNvPr id="6" name="text_165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치즈 = 경험치</a:t>
            </a:r>
            <a:endParaRPr lang="en-US" sz="1400" dirty="0"/>
          </a:p>
        </p:txBody>
      </p:sp>
      <p:sp>
        <p:nvSpPr>
          <p:cNvPr id="7" name="text_166"/>
          <p:cNvSpPr txBox="1"/>
          <p:nvPr/>
        </p:nvSpPr>
        <p:spPr>
          <a:xfrm>
            <a:off x="5623560" y="1737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쓰러진 적이 치즈 조각을 떨구고, 잠시 뒤 플레이어에게 빨려 옴. 딱정벌레 6 · 날파리 4</a:t>
            </a:r>
            <a:endParaRPr lang="en-US" sz="1100" dirty="0"/>
          </a:p>
        </p:txBody>
      </p:sp>
      <p:sp>
        <p:nvSpPr>
          <p:cNvPr id="8" name="card_167"/>
          <p:cNvSpPr/>
          <p:nvPr/>
        </p:nvSpPr>
        <p:spPr>
          <a:xfrm>
            <a:off x="5486400" y="2743200"/>
            <a:ext cx="32004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_168"/>
          <p:cNvSpPr txBox="1"/>
          <p:nvPr/>
        </p:nvSpPr>
        <p:spPr>
          <a:xfrm>
            <a:off x="562356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능력 아이템 — 새 길</a:t>
            </a:r>
            <a:endParaRPr lang="en-US" sz="1400" dirty="0"/>
          </a:p>
        </p:txBody>
      </p:sp>
      <p:sp>
        <p:nvSpPr>
          <p:cNvPr id="10" name="bullets_169"/>
          <p:cNvSpPr txBox="1"/>
          <p:nvPr/>
        </p:nvSpPr>
        <p:spPr>
          <a:xfrm>
            <a:off x="562356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이단 점프: 높은 나무뿌리 위 출구(바닥에서 180px)를 엶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후속: 명검 강화(칼이 커짐), 벽 차기 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적 · 월드 구성</a:t>
            </a:r>
            <a:endParaRPr lang="en-US" sz="2600" dirty="0"/>
          </a:p>
        </p:txBody>
      </p:sp>
      <p:sp>
        <p:nvSpPr>
          <p:cNvPr id="3" name="card_170"/>
          <p:cNvSpPr/>
          <p:nvPr/>
        </p:nvSpPr>
        <p:spPr>
          <a:xfrm>
            <a:off x="457200" y="1051560"/>
            <a:ext cx="21945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foe_171" descr="C:\Project\RatKnight\art\enemy\crawler\cut\walk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77" y="1234440"/>
            <a:ext cx="1706207" cy="1188720"/>
          </a:xfrm>
          <a:prstGeom prst="rect">
            <a:avLst/>
          </a:prstGeom>
        </p:spPr>
      </p:pic>
      <p:sp>
        <p:nvSpPr>
          <p:cNvPr id="5" name="text_172"/>
          <p:cNvSpPr txBox="1"/>
          <p:nvPr/>
        </p:nvSpPr>
        <p:spPr>
          <a:xfrm>
            <a:off x="621792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딱정벌레</a:t>
            </a:r>
            <a:endParaRPr lang="en-US" sz="1400" dirty="0"/>
          </a:p>
        </p:txBody>
      </p:sp>
      <p:sp>
        <p:nvSpPr>
          <p:cNvPr id="6" name="text_173"/>
          <p:cNvSpPr txBox="1"/>
          <p:nvPr/>
        </p:nvSpPr>
        <p:spPr>
          <a:xfrm>
            <a:off x="62179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바닥을 기다 다가오면 0.6초 몸을 젖혔다가 돌진. 체력 24</a:t>
            </a:r>
            <a:endParaRPr lang="en-US" sz="1100" dirty="0"/>
          </a:p>
        </p:txBody>
      </p:sp>
      <p:sp>
        <p:nvSpPr>
          <p:cNvPr id="7" name="card_174"/>
          <p:cNvSpPr/>
          <p:nvPr/>
        </p:nvSpPr>
        <p:spPr>
          <a:xfrm>
            <a:off x="2834640" y="1051560"/>
            <a:ext cx="21945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e_175" descr="C:\Project\RatKnight\art\enemy\flyer\cut\fly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274" y="1234440"/>
            <a:ext cx="1197293" cy="1188720"/>
          </a:xfrm>
          <a:prstGeom prst="rect">
            <a:avLst/>
          </a:prstGeom>
        </p:spPr>
      </p:pic>
      <p:sp>
        <p:nvSpPr>
          <p:cNvPr id="9" name="text_176"/>
          <p:cNvSpPr txBox="1"/>
          <p:nvPr/>
        </p:nvSpPr>
        <p:spPr>
          <a:xfrm>
            <a:off x="2999232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날파리</a:t>
            </a:r>
            <a:endParaRPr lang="en-US" sz="1400" dirty="0"/>
          </a:p>
        </p:txBody>
      </p:sp>
      <p:sp>
        <p:nvSpPr>
          <p:cNvPr id="10" name="text_177"/>
          <p:cNvSpPr txBox="1"/>
          <p:nvPr/>
        </p:nvSpPr>
        <p:spPr>
          <a:xfrm>
            <a:off x="299923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공중에서 맴돌다 젖히고 플레이어 쪽으로 급강하. 체력 16</a:t>
            </a:r>
            <a:endParaRPr lang="en-US" sz="1100" dirty="0"/>
          </a:p>
        </p:txBody>
      </p:sp>
      <p:sp>
        <p:nvSpPr>
          <p:cNvPr id="11" name="text_178"/>
          <p:cNvSpPr txBox="1"/>
          <p:nvPr/>
        </p:nvSpPr>
        <p:spPr>
          <a:xfrm>
            <a:off x="4572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몸통 박치기는 적이 공격하는 순간(돌진·급강하)에만 피해. 걷는 적에겐 내딛으며 베어 들어갈 수 있음</a:t>
            </a:r>
            <a:endParaRPr lang="en-US" sz="1100" dirty="0"/>
          </a:p>
        </p:txBody>
      </p:sp>
      <p:sp>
        <p:nvSpPr>
          <p:cNvPr id="12" name="card_179"/>
          <p:cNvSpPr/>
          <p:nvPr/>
        </p:nvSpPr>
        <p:spPr>
          <a:xfrm>
            <a:off x="5394960" y="105156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pic>
        <p:nvPicPr>
          <p:cNvPr id="13" name="candle" descr="C:\Project\RatKnight\art\props\cut\candle_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188720"/>
            <a:ext cx="685800" cy="750498"/>
          </a:xfrm>
          <a:prstGeom prst="rect">
            <a:avLst/>
          </a:prstGeom>
        </p:spPr>
      </p:pic>
      <p:sp>
        <p:nvSpPr>
          <p:cNvPr id="14" name="text_180"/>
          <p:cNvSpPr txBox="1"/>
          <p:nvPr/>
        </p:nvSpPr>
        <p:spPr>
          <a:xfrm>
            <a:off x="635508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쉼터 촛불</a:t>
            </a:r>
            <a:endParaRPr lang="en-US" sz="1400" dirty="0"/>
          </a:p>
        </p:txBody>
      </p:sp>
      <p:sp>
        <p:nvSpPr>
          <p:cNvPr id="15" name="text_181"/>
          <p:cNvSpPr txBox="1"/>
          <p:nvPr/>
        </p:nvSpPr>
        <p:spPr>
          <a:xfrm>
            <a:off x="6355080" y="1572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닿으면 불이 켜지며 저장·체력 회복</a:t>
            </a:r>
            <a:endParaRPr lang="en-US" sz="1100" dirty="0"/>
          </a:p>
        </p:txBody>
      </p:sp>
      <p:sp>
        <p:nvSpPr>
          <p:cNvPr id="16" name="text_182"/>
          <p:cNvSpPr txBox="1"/>
          <p:nvPr/>
        </p:nvSpPr>
        <p:spPr>
          <a:xfrm>
            <a:off x="553212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마을 끝 들길</a:t>
            </a:r>
            <a:endParaRPr lang="en-US" sz="1200" dirty="0"/>
          </a:p>
        </p:txBody>
      </p:sp>
      <p:sp>
        <p:nvSpPr>
          <p:cNvPr id="17" name="text_183"/>
          <p:cNvSpPr txBox="1"/>
          <p:nvPr/>
        </p:nvSpPr>
        <p:spPr>
          <a:xfrm>
            <a:off x="55321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쉼터 · 딱정벌레 · 훈련 허수아비</a:t>
            </a:r>
            <a:endParaRPr lang="en-US" sz="1100" dirty="0"/>
          </a:p>
        </p:txBody>
      </p:sp>
      <p:sp>
        <p:nvSpPr>
          <p:cNvPr id="18" name="text_184"/>
          <p:cNvSpPr txBox="1"/>
          <p:nvPr/>
        </p:nvSpPr>
        <p:spPr>
          <a:xfrm>
            <a:off x="5532120" y="3044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버려진 숲</a:t>
            </a:r>
            <a:endParaRPr lang="en-US" sz="1200" dirty="0"/>
          </a:p>
        </p:txBody>
      </p:sp>
      <p:sp>
        <p:nvSpPr>
          <p:cNvPr id="19" name="text_185"/>
          <p:cNvSpPr txBox="1"/>
          <p:nvPr/>
        </p:nvSpPr>
        <p:spPr>
          <a:xfrm>
            <a:off x="5532120" y="3319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딱정벌레 2 · 날파리 · 이단 점프</a:t>
            </a:r>
            <a:endParaRPr lang="en-US" sz="1100" dirty="0"/>
          </a:p>
        </p:txBody>
      </p:sp>
      <p:sp>
        <p:nvSpPr>
          <p:cNvPr id="20" name="text_186"/>
          <p:cNvSpPr txBox="1"/>
          <p:nvPr/>
        </p:nvSpPr>
        <p:spPr>
          <a:xfrm>
            <a:off x="553212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잊힌 기사의 언덕</a:t>
            </a:r>
            <a:endParaRPr lang="en-US" sz="1200" dirty="0"/>
          </a:p>
        </p:txBody>
      </p:sp>
      <p:sp>
        <p:nvSpPr>
          <p:cNvPr id="21" name="text_187"/>
          <p:cNvSpPr txBox="1"/>
          <p:nvPr/>
        </p:nvSpPr>
        <p:spPr>
          <a:xfrm>
            <a:off x="5532120" y="40325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쉼터 · 날파리 2 · 딱정벌레 · 명검의 기운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제작 파이프라인</a:t>
            </a:r>
            <a:endParaRPr lang="en-US" sz="2600" dirty="0"/>
          </a:p>
        </p:txBody>
      </p:sp>
      <p:sp>
        <p:nvSpPr>
          <p:cNvPr id="3" name="card_188"/>
          <p:cNvSpPr/>
          <p:nvPr/>
        </p:nvSpPr>
        <p:spPr>
          <a:xfrm>
            <a:off x="457200" y="10515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7E8DA"/>
          </a:solidFill>
          <a:ln w="12700">
            <a:solidFill>
              <a:srgbClr val="F7E8DA"/>
            </a:solidFill>
            <a:prstDash val="solid"/>
          </a:ln>
        </p:spPr>
      </p:sp>
      <p:sp>
        <p:nvSpPr>
          <p:cNvPr id="4" name="badge_189"/>
          <p:cNvSpPr/>
          <p:nvPr/>
        </p:nvSpPr>
        <p:spPr>
          <a:xfrm>
            <a:off x="594360" y="1188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190"/>
          <p:cNvSpPr txBox="1"/>
          <p:nvPr/>
        </p:nvSpPr>
        <p:spPr>
          <a:xfrm>
            <a:off x="5943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_191"/>
          <p:cNvSpPr txBox="1"/>
          <p:nvPr/>
        </p:nvSpPr>
        <p:spPr>
          <a:xfrm>
            <a:off x="1097280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웹 프로토</a:t>
            </a:r>
            <a:endParaRPr lang="en-US" sz="1500" dirty="0"/>
          </a:p>
        </p:txBody>
      </p:sp>
      <p:sp>
        <p:nvSpPr>
          <p:cNvPr id="7" name="text_192"/>
          <p:cNvSpPr txBox="1"/>
          <p:nvPr/>
        </p:nvSpPr>
        <p:spPr>
          <a:xfrm>
            <a:off x="621792" y="1664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모션·이펙트·루프를 코드 표로 확정</a:t>
            </a:r>
            <a:endParaRPr lang="en-US" sz="1100" dirty="0"/>
          </a:p>
        </p:txBody>
      </p:sp>
      <p:sp>
        <p:nvSpPr>
          <p:cNvPr id="8" name="text_193"/>
          <p:cNvSpPr txBox="1"/>
          <p:nvPr/>
        </p:nvSpPr>
        <p:spPr>
          <a:xfrm>
            <a:off x="3063240" y="1051560"/>
            <a:ext cx="210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A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card_194"/>
          <p:cNvSpPr/>
          <p:nvPr/>
        </p:nvSpPr>
        <p:spPr>
          <a:xfrm>
            <a:off x="3273552" y="10515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_195"/>
          <p:cNvSpPr/>
          <p:nvPr/>
        </p:nvSpPr>
        <p:spPr>
          <a:xfrm>
            <a:off x="3410712" y="118872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adgeText_196"/>
          <p:cNvSpPr txBox="1"/>
          <p:nvPr/>
        </p:nvSpPr>
        <p:spPr>
          <a:xfrm>
            <a:off x="341071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_197"/>
          <p:cNvSpPr txBox="1"/>
          <p:nvPr/>
        </p:nvSpPr>
        <p:spPr>
          <a:xfrm>
            <a:off x="3913632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웹 빌드</a:t>
            </a:r>
            <a:endParaRPr lang="en-US" sz="1500" dirty="0"/>
          </a:p>
        </p:txBody>
      </p:sp>
      <p:sp>
        <p:nvSpPr>
          <p:cNvPr id="13" name="text_198"/>
          <p:cNvSpPr txBox="1"/>
          <p:nvPr/>
        </p:nvSpPr>
        <p:spPr>
          <a:xfrm>
            <a:off x="3438144" y="1664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공유·피드백</a:t>
            </a:r>
            <a:endParaRPr lang="en-US" sz="1100" dirty="0"/>
          </a:p>
        </p:txBody>
      </p:sp>
      <p:sp>
        <p:nvSpPr>
          <p:cNvPr id="14" name="text_199"/>
          <p:cNvSpPr txBox="1"/>
          <p:nvPr/>
        </p:nvSpPr>
        <p:spPr>
          <a:xfrm>
            <a:off x="5879592" y="1051560"/>
            <a:ext cx="210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A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card_200"/>
          <p:cNvSpPr/>
          <p:nvPr/>
        </p:nvSpPr>
        <p:spPr>
          <a:xfrm>
            <a:off x="6089904" y="10515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_201"/>
          <p:cNvSpPr/>
          <p:nvPr/>
        </p:nvSpPr>
        <p:spPr>
          <a:xfrm>
            <a:off x="6227064" y="1188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Text_202"/>
          <p:cNvSpPr txBox="1"/>
          <p:nvPr/>
        </p:nvSpPr>
        <p:spPr>
          <a:xfrm>
            <a:off x="6227064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_203"/>
          <p:cNvSpPr txBox="1"/>
          <p:nvPr/>
        </p:nvSpPr>
        <p:spPr>
          <a:xfrm>
            <a:off x="6729984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유니티 이식</a:t>
            </a:r>
            <a:endParaRPr lang="en-US" sz="1500" dirty="0"/>
          </a:p>
        </p:txBody>
      </p:sp>
      <p:sp>
        <p:nvSpPr>
          <p:cNvPr id="19" name="text_204"/>
          <p:cNvSpPr txBox="1"/>
          <p:nvPr/>
        </p:nvSpPr>
        <p:spPr>
          <a:xfrm>
            <a:off x="6254496" y="1664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리그 구조·모션 표를 그대로 옮김</a:t>
            </a:r>
            <a:endParaRPr lang="en-US" sz="1100" dirty="0"/>
          </a:p>
        </p:txBody>
      </p:sp>
      <p:sp>
        <p:nvSpPr>
          <p:cNvPr id="20" name="text_205"/>
          <p:cNvSpPr txBox="1"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그림 제작</a:t>
            </a:r>
            <a:endParaRPr lang="en-US" sz="1500" dirty="0"/>
          </a:p>
        </p:txBody>
      </p:sp>
      <p:sp>
        <p:nvSpPr>
          <p:cNvPr id="21" name="card_206"/>
          <p:cNvSpPr/>
          <p:nvPr/>
        </p:nvSpPr>
        <p:spPr>
          <a:xfrm>
            <a:off x="45720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_207"/>
          <p:cNvSpPr txBox="1"/>
          <p:nvPr/>
        </p:nvSpPr>
        <p:spPr>
          <a:xfrm>
            <a:off x="5943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생성</a:t>
            </a:r>
            <a:endParaRPr lang="en-US" sz="1300" dirty="0"/>
          </a:p>
        </p:txBody>
      </p:sp>
      <p:sp>
        <p:nvSpPr>
          <p:cNvPr id="23" name="text_208"/>
          <p:cNvSpPr txBox="1"/>
          <p:nvPr/>
        </p:nvSpPr>
        <p:spPr>
          <a:xfrm>
            <a:off x="59436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Codex로 플랫하게 생성</a:t>
            </a:r>
            <a:endParaRPr lang="en-US" sz="1100" dirty="0"/>
          </a:p>
        </p:txBody>
      </p:sp>
      <p:sp>
        <p:nvSpPr>
          <p:cNvPr id="24" name="card_209"/>
          <p:cNvSpPr/>
          <p:nvPr/>
        </p:nvSpPr>
        <p:spPr>
          <a:xfrm>
            <a:off x="256032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_210"/>
          <p:cNvSpPr txBox="1"/>
          <p:nvPr/>
        </p:nvSpPr>
        <p:spPr>
          <a:xfrm>
            <a:off x="269748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키잉</a:t>
            </a:r>
            <a:endParaRPr lang="en-US" sz="1300" dirty="0"/>
          </a:p>
        </p:txBody>
      </p:sp>
      <p:sp>
        <p:nvSpPr>
          <p:cNvPr id="26" name="text_211"/>
          <p:cNvSpPr txBox="1"/>
          <p:nvPr/>
        </p:nvSpPr>
        <p:spPr>
          <a:xfrm>
            <a:off x="269748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자홍을 빼고 덩어리별로 자름</a:t>
            </a:r>
            <a:endParaRPr lang="en-US" sz="1100" dirty="0"/>
          </a:p>
        </p:txBody>
      </p:sp>
      <p:sp>
        <p:nvSpPr>
          <p:cNvPr id="27" name="card_212"/>
          <p:cNvSpPr/>
          <p:nvPr/>
        </p:nvSpPr>
        <p:spPr>
          <a:xfrm>
            <a:off x="466344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_213"/>
          <p:cNvSpPr txBox="1"/>
          <p:nvPr/>
        </p:nvSpPr>
        <p:spPr>
          <a:xfrm>
            <a:off x="48006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리그</a:t>
            </a:r>
            <a:endParaRPr lang="en-US" sz="1300" dirty="0"/>
          </a:p>
        </p:txBody>
      </p:sp>
      <p:sp>
        <p:nvSpPr>
          <p:cNvPr id="29" name="text_214"/>
          <p:cNvSpPr txBox="1"/>
          <p:nvPr/>
        </p:nvSpPr>
        <p:spPr>
          <a:xfrm>
            <a:off x="480060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통그림에 맞춰 부위·칼 자리 기록</a:t>
            </a:r>
            <a:endParaRPr lang="en-US" sz="1100" dirty="0"/>
          </a:p>
        </p:txBody>
      </p:sp>
      <p:sp>
        <p:nvSpPr>
          <p:cNvPr id="30" name="card_215"/>
          <p:cNvSpPr/>
          <p:nvPr/>
        </p:nvSpPr>
        <p:spPr>
          <a:xfrm>
            <a:off x="6766560" y="2926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_216"/>
          <p:cNvSpPr txBox="1"/>
          <p:nvPr/>
        </p:nvSpPr>
        <p:spPr>
          <a:xfrm>
            <a:off x="69037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마감</a:t>
            </a:r>
            <a:endParaRPr lang="en-US" sz="1300" dirty="0"/>
          </a:p>
        </p:txBody>
      </p:sp>
      <p:sp>
        <p:nvSpPr>
          <p:cNvPr id="32" name="text_217"/>
          <p:cNvSpPr txBox="1"/>
          <p:nvPr/>
        </p:nvSpPr>
        <p:spPr>
          <a:xfrm>
            <a:off x="690372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코드 셰이더 명암 + 픽셀화</a:t>
            </a:r>
            <a:endParaRPr lang="en-US" sz="1100" dirty="0"/>
          </a:p>
        </p:txBody>
      </p:sp>
      <p:sp>
        <p:nvSpPr>
          <p:cNvPr id="33" name="text_218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그림 규칙: 픽셀아트로 뽑지 않고 플랫하게 → 픽셀화는 코드. 리그로 힘든 극한 자세만 통그림 프레임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F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다음 단계</a:t>
            </a:r>
            <a:endParaRPr lang="en-US" sz="2600" dirty="0"/>
          </a:p>
        </p:txBody>
      </p:sp>
      <p:sp>
        <p:nvSpPr>
          <p:cNvPr id="3" name="next_219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badge_220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Text_221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_222"/>
          <p:cNvSpPr txBox="1"/>
          <p:nvPr/>
        </p:nvSpPr>
        <p:spPr>
          <a:xfrm>
            <a:off x="118872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UI 그림</a:t>
            </a:r>
            <a:endParaRPr lang="en-US" sz="1600" dirty="0"/>
          </a:p>
        </p:txBody>
      </p:sp>
      <p:sp>
        <p:nvSpPr>
          <p:cNvPr id="7" name="text_223"/>
          <p:cNvSpPr txBox="1"/>
          <p:nvPr/>
        </p:nvSpPr>
        <p:spPr>
          <a:xfrm>
            <a:off x="685800" y="1874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2EE"/>
                </a:solidFill>
              </a:rPr>
              <a:t>체력 하트·레벨 배지·경험치 막대·알림 띠를 Codex로 생성 (지금은 코드 HUD)</a:t>
            </a:r>
            <a:endParaRPr lang="en-US" sz="1200" dirty="0"/>
          </a:p>
        </p:txBody>
      </p:sp>
      <p:sp>
        <p:nvSpPr>
          <p:cNvPr id="8" name="next_22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badge_225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Text_226"/>
          <p:cNvSpPr txBox="1"/>
          <p:nvPr/>
        </p:nvSpPr>
        <p:spPr>
          <a:xfrm>
            <a:off x="4846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_227"/>
          <p:cNvSpPr txBox="1"/>
          <p:nvPr/>
        </p:nvSpPr>
        <p:spPr>
          <a:xfrm>
            <a:off x="539496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보스 · 지역</a:t>
            </a:r>
            <a:endParaRPr lang="en-US" sz="1600" dirty="0"/>
          </a:p>
        </p:txBody>
      </p:sp>
      <p:sp>
        <p:nvSpPr>
          <p:cNvPr id="12" name="text_228"/>
          <p:cNvSpPr txBox="1"/>
          <p:nvPr/>
        </p:nvSpPr>
        <p:spPr>
          <a:xfrm>
            <a:off x="4892040" y="18745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2EE"/>
                </a:solidFill>
              </a:rPr>
              <a:t>숲의 수호자 보스, 왕국까지 이어지는 지역 확장</a:t>
            </a:r>
            <a:endParaRPr lang="en-US" sz="1200" dirty="0"/>
          </a:p>
        </p:txBody>
      </p:sp>
      <p:sp>
        <p:nvSpPr>
          <p:cNvPr id="13" name="next_229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badge_230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badgeText_231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_232"/>
          <p:cNvSpPr txBox="1"/>
          <p:nvPr/>
        </p:nvSpPr>
        <p:spPr>
          <a:xfrm>
            <a:off x="118872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명검 강화</a:t>
            </a:r>
            <a:endParaRPr lang="en-US" sz="1600" dirty="0"/>
          </a:p>
        </p:txBody>
      </p:sp>
      <p:sp>
        <p:nvSpPr>
          <p:cNvPr id="17" name="text_233"/>
          <p:cNvSpPr txBox="1"/>
          <p:nvPr/>
        </p:nvSpPr>
        <p:spPr>
          <a:xfrm>
            <a:off x="685800" y="3566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2EE"/>
                </a:solidFill>
              </a:rPr>
              <a:t>명검을 얻으면 한시적으로 기를 모아 칼이 커지는 강화 상태</a:t>
            </a:r>
            <a:endParaRPr lang="en-US" sz="1200" dirty="0"/>
          </a:p>
        </p:txBody>
      </p:sp>
      <p:sp>
        <p:nvSpPr>
          <p:cNvPr id="18" name="next_234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badge_235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adgeText_236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_237"/>
          <p:cNvSpPr txBox="1"/>
          <p:nvPr/>
        </p:nvSpPr>
        <p:spPr>
          <a:xfrm>
            <a:off x="539496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유니티 이식</a:t>
            </a:r>
            <a:endParaRPr lang="en-US" sz="1600" dirty="0"/>
          </a:p>
        </p:txBody>
      </p:sp>
      <p:sp>
        <p:nvSpPr>
          <p:cNvPr id="22" name="text_238"/>
          <p:cNvSpPr txBox="1"/>
          <p:nvPr/>
        </p:nvSpPr>
        <p:spPr>
          <a:xfrm>
            <a:off x="4892040" y="3566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2EE"/>
                </a:solidFill>
              </a:rPr>
              <a:t>확정된 모션 표·리그·루프를 유니티로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B0D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tKnight Dusk">
  <a:themeElements>
    <a:clrScheme name="RatKnight Dusk">
      <a:dk1>
        <a:srgbClr val="1F1A33"/>
      </a:dk1>
      <a:lt1>
        <a:srgbClr val="FFFFFF"/>
      </a:lt1>
      <a:dk2>
        <a:srgbClr val="3B2F5C"/>
      </a:dk2>
      <a:lt2>
        <a:srgbClr val="EFEAF7"/>
      </a:lt2>
      <a:accent1>
        <a:srgbClr val="F2A65A"/>
      </a:accent1>
      <a:accent2>
        <a:srgbClr val="3E6B6A"/>
      </a:accent2>
      <a:accent3>
        <a:srgbClr val="F2C14E"/>
      </a:accent3>
      <a:accent4>
        <a:srgbClr val="E0607E"/>
      </a:accent4>
      <a:accent5>
        <a:srgbClr val="7A6FA0"/>
      </a:accent5>
      <a:accent6>
        <a:srgbClr val="9BC28B"/>
      </a:accent6>
      <a:hlink>
        <a:srgbClr val="3E6B6A"/>
      </a:hlink>
      <a:folHlink>
        <a:srgbClr val="7A6FA0"/>
      </a:folHlink>
    </a:clrScheme>
    <a:fontScheme name="RatKnight Dusk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기사쥐 컨셉 기획서 v0.4</dc:title>
  <dc:subject>PptxGenJS Presentation</dc:subject>
  <dc:creator>정승운</dc:creator>
  <cp:lastModifiedBy>정승운</cp:lastModifiedBy>
  <cp:revision>1</cp:revision>
  <dcterms:created xsi:type="dcterms:W3CDTF">2026-10-28T11:23:15Z</dcterms:created>
  <dcterms:modified xsi:type="dcterms:W3CDTF">2026-10-28T11:23:15Z</dcterms:modified>
</cp:coreProperties>
</file>