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RAT KNIGHT · 컨셉 기획서 V1.1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RAT KNIGHT · 컨셉 기획서 V1.1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e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830">
              <a:alpha val="7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01000" y="685800"/>
            <a:ext cx="3520440" cy="5486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" y="1188720"/>
            <a:ext cx="6675120" cy="4480560"/>
          </a:xfrm>
          <a:prstGeom prst="roundRect">
            <a:avLst>
              <a:gd name="adj" fmla="val 2449"/>
            </a:avLst>
          </a:prstGeom>
          <a:solidFill>
            <a:srgbClr val="F0F2EC"/>
          </a:solidFill>
          <a:ln w="3175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88900" dir="2700000">
              <a:srgbClr val="17131F">
                <a:alpha val="100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120640" y="1216152"/>
            <a:ext cx="2148840" cy="21488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51560" y="160020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3D8B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1051560" y="1600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컨셉 기획서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1069848" y="2029968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FFD8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기사쥐</a:t>
            </a:r>
            <a:endParaRPr lang="en-US" sz="7200" dirty="0"/>
          </a:p>
        </p:txBody>
      </p:sp>
      <p:sp>
        <p:nvSpPr>
          <p:cNvPr id="10" name="Text 5"/>
          <p:cNvSpPr txBox="1"/>
          <p:nvPr/>
        </p:nvSpPr>
        <p:spPr>
          <a:xfrm>
            <a:off x="1005840" y="196596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기사쥐</a:t>
            </a:r>
            <a:endParaRPr lang="en-US" sz="7200" dirty="0"/>
          </a:p>
        </p:txBody>
      </p:sp>
      <p:sp>
        <p:nvSpPr>
          <p:cNvPr id="11" name="Text 6"/>
          <p:cNvSpPr txBox="1"/>
          <p:nvPr/>
        </p:nvSpPr>
        <p:spPr>
          <a:xfrm>
            <a:off x="10515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spc="400" kern="0" dirty="0">
                <a:solidFill>
                  <a:srgbClr val="FF3D8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RAT KNIGHT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1051560" y="3749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하수구 쥐 마을의 꼬마쥐가 쓰레기로 만든 기사 장비를 입고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전설의 명검을 찾아 도시를 누비는 픽셀 팝아트 액션 메트로배니아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1051560" y="4983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V1.1  |  2026-10-30  |  정승운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관리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문서 변경 이력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7434072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날짜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변경 내용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작성자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V1.1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2026-10-30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컨셉 기획서 초안. 버전 관리·목차, 원페이지 기획서, 맵 구성·이동 구조·진행 흐름, 성장 구조(보스 처치 = 이동 스킬, 탐험 = 전투 스킬, 스탯 성장 제외) 작성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정승운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4612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규칙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57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V1.x  내용 추가·수정마다 소수점 버전 +0.1 (V1.1 → V1.2 → …)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V2.0  문서 구조를 크게 바꿀 때 앞자리 올림. 최신 버전이 표 맨 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3154680" cy="1600200"/>
          </a:xfrm>
          <a:prstGeom prst="roundRect">
            <a:avLst>
              <a:gd name="adj" fmla="val 5714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1874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4800" dirty="0"/>
          </a:p>
        </p:txBody>
      </p:sp>
      <p:pic>
        <p:nvPicPr>
          <p:cNvPr id="9" name="Image 0" descr="toc_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938528"/>
            <a:ext cx="960120" cy="9601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2715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개요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6576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1.1  원페이지 기획서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34256" y="155448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17136" y="1737360"/>
            <a:ext cx="3154680" cy="1600200"/>
          </a:xfrm>
          <a:prstGeom prst="roundRect">
            <a:avLst>
              <a:gd name="adj" fmla="val 5714"/>
            </a:avLst>
          </a:prstGeom>
          <a:solidFill>
            <a:srgbClr val="B6F2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64024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4718304" y="1874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4800" dirty="0"/>
          </a:p>
        </p:txBody>
      </p:sp>
      <p:pic>
        <p:nvPicPr>
          <p:cNvPr id="16" name="Image 1" descr="toc_wor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938528"/>
            <a:ext cx="960120" cy="9601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718304" y="2715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월드 · 맵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4718304" y="36576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  맵 구성</a:t>
            </a:r>
            <a:endParaRPr lang="en-US" sz="13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2.2  맵 이동 구조</a:t>
            </a:r>
            <a:endParaRPr lang="en-US" sz="13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2.3  진행 흐름 · 엔딩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19872" y="155448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02752" y="1737360"/>
            <a:ext cx="3154680" cy="1600200"/>
          </a:xfrm>
          <a:prstGeom prst="roundRect">
            <a:avLst>
              <a:gd name="adj" fmla="val 5714"/>
            </a:avLst>
          </a:prstGeom>
          <a:solidFill>
            <a:srgbClr val="FF3D8B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54964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1874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4800" dirty="0"/>
          </a:p>
        </p:txBody>
      </p:sp>
      <p:pic>
        <p:nvPicPr>
          <p:cNvPr id="23" name="Image 2" descr="toc_grow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938528"/>
            <a:ext cx="960120" cy="9601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503920" y="2715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성장 시스템</a:t>
            </a:r>
            <a:endParaRPr lang="en-US" sz="2200" dirty="0"/>
          </a:p>
        </p:txBody>
      </p:sp>
      <p:sp>
        <p:nvSpPr>
          <p:cNvPr id="25" name="Text 20"/>
          <p:cNvSpPr txBox="1"/>
          <p:nvPr/>
        </p:nvSpPr>
        <p:spPr>
          <a:xfrm>
            <a:off x="8503920" y="36576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  성장 구조</a:t>
            </a:r>
            <a:endParaRPr lang="en-US" sz="13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  이동 스킬 (보스 보상)</a:t>
            </a:r>
            <a:endParaRPr lang="en-US" sz="13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  전투 스킬 (탐험 보상)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" y="1316736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0" dirty="0">
                <a:solidFill>
                  <a:srgbClr val="FF3D8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0" dirty="0">
                <a:solidFill>
                  <a:srgbClr val="FFD8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11000" dirty="0"/>
          </a:p>
        </p:txBody>
      </p:sp>
      <p:pic>
        <p:nvPicPr>
          <p:cNvPr id="4" name="Image 0" descr="toc_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1600200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880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개요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96112" y="38404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1.1  원페이지 기획서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960120"/>
            <a:ext cx="4754880" cy="4937760"/>
          </a:xfrm>
          <a:prstGeom prst="roundRect">
            <a:avLst>
              <a:gd name="adj" fmla="val 2308"/>
            </a:avLst>
          </a:prstGeom>
          <a:solidFill>
            <a:srgbClr val="F0F2EC"/>
          </a:solidFill>
          <a:ln w="3175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88900" dir="2700000">
              <a:srgbClr val="17131F">
                <a:alpha val="10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0" y="1234440"/>
            <a:ext cx="2560320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개요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1.1 원페이지 기획서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17131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6362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636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요약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141732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쓰레기로 무장한 하수구 꼬마쥐가 보스를 쓰러뜨리며 전설의 명검을 찾아 도시를 누비는 팝아트 액션 메트로배니아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507492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322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정보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70048"/>
          <a:ext cx="47091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474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장르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2D 횡스크롤 액션 메트로배니아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플랫폼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PC (웹 프로토 → 유니티 본편)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타겟 유저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할로우 나이트·실크송류 탐험 액션 유저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플레이 목표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보스마다 명검 부품 1개, 모두 모아 명검 완성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레퍼런스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할로우 나이트, 카타나 제로, 산나비(사슬팔)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852160" y="2212848"/>
            <a:ext cx="5788152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035040" y="2322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특징</a:t>
            </a:r>
            <a:endParaRPr lang="en-US" sz="1300" dirty="0"/>
          </a:p>
        </p:txBody>
      </p:sp>
      <p:pic>
        <p:nvPicPr>
          <p:cNvPr id="14" name="Image 0" descr="feat_sl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268833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675120" y="26883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베는 손맛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675120" y="2926080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몸을 감아 도는 3타 베기, 히트스톱, 팝아트 타격 연출</a:t>
            </a:r>
            <a:endParaRPr lang="en-US" sz="1100" dirty="0"/>
          </a:p>
        </p:txBody>
      </p:sp>
      <p:pic>
        <p:nvPicPr>
          <p:cNvPr id="17" name="Image 1" descr="feat_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3255264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75120" y="32552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고르는 길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675120" y="3493008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보스를 잡을 때마다 이동 스킬을 골라 다음 지역 결정 (12가지 경로)</a:t>
            </a:r>
            <a:endParaRPr lang="en-US" sz="1100" dirty="0"/>
          </a:p>
        </p:txBody>
      </p:sp>
      <p:pic>
        <p:nvPicPr>
          <p:cNvPr id="20" name="Image 2" descr="feat_r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3822192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75120" y="38221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쥐의 눈으로 본 도시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6675120" y="4059936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병뚜껑 견갑·파이프 검. 인간의 쓰레기가 쥐에겐 보물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636008"/>
            <a:ext cx="5074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731520" y="4745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 컨셉</a:t>
            </a:r>
            <a:endParaRPr lang="en-US" sz="1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2960" y="5074920"/>
            <a:ext cx="777240" cy="114300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5093208"/>
            <a:ext cx="1828800" cy="102870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1783080" y="5093208"/>
            <a:ext cx="1828800" cy="1028700"/>
          </a:xfrm>
          <a:prstGeom prst="rect">
            <a:avLst/>
          </a:prstGeom>
          <a:ln w="15875">
            <a:solidFill>
              <a:srgbClr val="17131F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3749040" y="50749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그림체 = 픽셀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감성 = 팝아트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 원본 → 코드로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명암·망점·도트화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852160" y="4636008"/>
            <a:ext cx="5788152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30" name="Text 22"/>
          <p:cNvSpPr txBox="1"/>
          <p:nvPr/>
        </p:nvSpPr>
        <p:spPr>
          <a:xfrm>
            <a:off x="6035040" y="4745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루프</a:t>
            </a:r>
            <a:endParaRPr lang="en-US" sz="1300" dirty="0"/>
          </a:p>
        </p:txBody>
      </p:sp>
      <p:pic>
        <p:nvPicPr>
          <p:cNvPr id="31" name="Image 5" descr="loop_explo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5047488"/>
            <a:ext cx="566928" cy="56692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080760" y="56418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탐험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6035040" y="58795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 스킬 발견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7040880" y="5330952"/>
            <a:ext cx="649224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pic>
        <p:nvPicPr>
          <p:cNvPr id="35" name="Image 6" descr="loop_bos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1544" y="5047488"/>
            <a:ext cx="566928" cy="56692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479792" y="56418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처치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7434072" y="58795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명검 부품 획득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8439912" y="5330952"/>
            <a:ext cx="649224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pic>
        <p:nvPicPr>
          <p:cNvPr id="39" name="Image 7" descr="loop_ski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576" y="5047488"/>
            <a:ext cx="566928" cy="566928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8878824" y="56418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스킬</a:t>
            </a:r>
            <a:endParaRPr lang="en-US" sz="1200" dirty="0"/>
          </a:p>
        </p:txBody>
      </p:sp>
      <p:sp>
        <p:nvSpPr>
          <p:cNvPr id="41" name="Text 30"/>
          <p:cNvSpPr txBox="1"/>
          <p:nvPr/>
        </p:nvSpPr>
        <p:spPr>
          <a:xfrm>
            <a:off x="8833104" y="58795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보상 선택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9838944" y="5330952"/>
            <a:ext cx="649224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pic>
        <p:nvPicPr>
          <p:cNvPr id="43" name="Image 8" descr="loop_map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9608" y="5047488"/>
            <a:ext cx="566928" cy="566928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10277856" y="56418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지역</a:t>
            </a:r>
            <a:endParaRPr lang="en-US" sz="1200" dirty="0"/>
          </a:p>
        </p:txBody>
      </p:sp>
      <p:sp>
        <p:nvSpPr>
          <p:cNvPr id="45" name="Text 33"/>
          <p:cNvSpPr txBox="1"/>
          <p:nvPr/>
        </p:nvSpPr>
        <p:spPr>
          <a:xfrm>
            <a:off x="10232136" y="58795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막힌 길 개방</a:t>
            </a:r>
            <a:endParaRPr lang="en-US" sz="1000" dirty="0"/>
          </a:p>
        </p:txBody>
      </p:sp>
      <p:sp>
        <p:nvSpPr>
          <p:cNvPr id="46" name="Text 34"/>
          <p:cNvSpPr txBox="1"/>
          <p:nvPr/>
        </p:nvSpPr>
        <p:spPr>
          <a:xfrm>
            <a:off x="10771632" y="474573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↺ 반복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" y="1316736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0" dirty="0">
                <a:solidFill>
                  <a:srgbClr val="FF3D8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0" dirty="0">
                <a:solidFill>
                  <a:srgbClr val="FFD8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11000" dirty="0"/>
          </a:p>
        </p:txBody>
      </p:sp>
      <p:pic>
        <p:nvPicPr>
          <p:cNvPr id="4" name="Image 0" descr="toc_wor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1600200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880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월드 · 맵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96112" y="38404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  맵 구성</a:t>
            </a:r>
            <a:endParaRPr lang="en-US" sz="14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2.2  맵 이동 구조</a:t>
            </a:r>
            <a:endParaRPr lang="en-US" sz="14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2.3  진행 흐름 · 엔딩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960120"/>
            <a:ext cx="4754880" cy="4937760"/>
          </a:xfrm>
          <a:prstGeom prst="roundRect">
            <a:avLst>
              <a:gd name="adj" fmla="val 2308"/>
            </a:avLst>
          </a:prstGeom>
          <a:solidFill>
            <a:srgbClr val="F0F2EC"/>
          </a:solidFill>
          <a:ln w="3175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88900" dir="2700000">
              <a:srgbClr val="17131F">
                <a:alpha val="10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188720"/>
            <a:ext cx="4297680" cy="241401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291840"/>
            <a:ext cx="4297680" cy="241401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903720" y="1188720"/>
            <a:ext cx="4297680" cy="4517136"/>
          </a:xfrm>
          <a:prstGeom prst="rect">
            <a:avLst/>
          </a:prstGeom>
          <a:ln w="19050">
            <a:solidFill>
              <a:srgbClr val="17131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월드 · 맵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2.1 맵 구성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pic>
        <p:nvPicPr>
          <p:cNvPr id="6" name="Image 0" descr="map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91640"/>
            <a:ext cx="868680" cy="868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28416" y="160934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C9D1C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157276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1783080" y="1737360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C9D1C8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83080" y="17373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맵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하수구 쥐 마을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7249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쥐들이 모여 사는 하수구 마을. 시작 보스를 잡고 첫 이동 스킬 선택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2004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시작 지점 · 이후 되돌아올 수 없음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34256" y="14630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pic>
        <p:nvPicPr>
          <p:cNvPr id="15" name="Image 1" descr="map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691640"/>
            <a:ext cx="868680" cy="8686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14032" y="160934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B6F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</a:t>
            </a:r>
            <a:endParaRPr lang="en-US" sz="4000" dirty="0"/>
          </a:p>
        </p:txBody>
      </p:sp>
      <p:sp>
        <p:nvSpPr>
          <p:cNvPr id="17" name="Text 13"/>
          <p:cNvSpPr txBox="1"/>
          <p:nvPr/>
        </p:nvSpPr>
        <p:spPr>
          <a:xfrm>
            <a:off x="7077456" y="157276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</a:t>
            </a:r>
            <a:endParaRPr lang="en-US" sz="4000" dirty="0"/>
          </a:p>
        </p:txBody>
      </p:sp>
      <p:sp>
        <p:nvSpPr>
          <p:cNvPr id="18" name="Shape 14"/>
          <p:cNvSpPr/>
          <p:nvPr/>
        </p:nvSpPr>
        <p:spPr>
          <a:xfrm>
            <a:off x="5568696" y="1737360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B6F2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568696" y="17373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지역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568696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번화가 뒷골목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4562856" y="27249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네온 간판·전선·배관 고리가 얽힌 좁은 골목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562856" y="318211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4FD1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62856" y="31821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사슬팔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5998464" y="3182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0번 맵에서 진입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119872" y="14630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pic>
        <p:nvPicPr>
          <p:cNvPr id="26" name="Image 2" descr="map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91640"/>
            <a:ext cx="868680" cy="8686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899648" y="160934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B6F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</a:t>
            </a:r>
            <a:endParaRPr lang="en-US" sz="4000" dirty="0"/>
          </a:p>
        </p:txBody>
      </p:sp>
      <p:sp>
        <p:nvSpPr>
          <p:cNvPr id="28" name="Text 23"/>
          <p:cNvSpPr txBox="1"/>
          <p:nvPr/>
        </p:nvSpPr>
        <p:spPr>
          <a:xfrm>
            <a:off x="10863072" y="157276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</a:t>
            </a:r>
            <a:endParaRPr lang="en-US" sz="4000" dirty="0"/>
          </a:p>
        </p:txBody>
      </p:sp>
      <p:sp>
        <p:nvSpPr>
          <p:cNvPr id="29" name="Shape 24"/>
          <p:cNvSpPr/>
          <p:nvPr/>
        </p:nvSpPr>
        <p:spPr>
          <a:xfrm>
            <a:off x="9354312" y="1737360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B6F2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354312" y="17373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지역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9354312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도심 하천과 공원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8348472" y="27249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배수구에서 흘러나온 하천과 물에 잠긴 공원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348472" y="318211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3DDC6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8348472" y="31821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수영·잠수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9784080" y="3182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0번 맵에서 진입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48640" y="37947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pic>
        <p:nvPicPr>
          <p:cNvPr id="37" name="Image 3" descr="map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23360"/>
            <a:ext cx="868680" cy="86868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3328416" y="394106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B6F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</a:t>
            </a:r>
            <a:endParaRPr lang="en-US" sz="4000" dirty="0"/>
          </a:p>
        </p:txBody>
      </p:sp>
      <p:sp>
        <p:nvSpPr>
          <p:cNvPr id="39" name="Text 33"/>
          <p:cNvSpPr txBox="1"/>
          <p:nvPr/>
        </p:nvSpPr>
        <p:spPr>
          <a:xfrm>
            <a:off x="3291840" y="390448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</a:t>
            </a:r>
            <a:endParaRPr lang="en-US" sz="4000" dirty="0"/>
          </a:p>
        </p:txBody>
      </p:sp>
      <p:sp>
        <p:nvSpPr>
          <p:cNvPr id="40" name="Shape 34"/>
          <p:cNvSpPr/>
          <p:nvPr/>
        </p:nvSpPr>
        <p:spPr>
          <a:xfrm>
            <a:off x="1783080" y="4069080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B6F2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1783080" y="406908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지역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1783080" y="4416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버려진 아파트 단지</a:t>
            </a:r>
            <a:endParaRPr lang="en-US" sz="1800" dirty="0"/>
          </a:p>
        </p:txBody>
      </p:sp>
      <p:sp>
        <p:nvSpPr>
          <p:cNvPr id="43" name="Text 37"/>
          <p:cNvSpPr txBox="1"/>
          <p:nvPr/>
        </p:nvSpPr>
        <p:spPr>
          <a:xfrm>
            <a:off x="777240" y="5056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외벽과 무너진 계단이 이어진 빈 아파트</a:t>
            </a:r>
            <a:endParaRPr lang="en-US" sz="1150" dirty="0"/>
          </a:p>
        </p:txBody>
      </p:sp>
      <p:sp>
        <p:nvSpPr>
          <p:cNvPr id="44" name="Shape 38"/>
          <p:cNvSpPr/>
          <p:nvPr/>
        </p:nvSpPr>
        <p:spPr>
          <a:xfrm>
            <a:off x="777240" y="551383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4A3D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777240" y="55138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벽타기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2212848" y="5513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0번 맵에서 진입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4334256" y="37947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pic>
        <p:nvPicPr>
          <p:cNvPr id="48" name="Image 4" descr="map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4023360"/>
            <a:ext cx="868680" cy="868680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7114032" y="394106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A35C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4</a:t>
            </a:r>
            <a:endParaRPr lang="en-US" sz="4000" dirty="0"/>
          </a:p>
        </p:txBody>
      </p:sp>
      <p:sp>
        <p:nvSpPr>
          <p:cNvPr id="50" name="Text 43"/>
          <p:cNvSpPr txBox="1"/>
          <p:nvPr/>
        </p:nvSpPr>
        <p:spPr>
          <a:xfrm>
            <a:off x="7077456" y="390448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4</a:t>
            </a:r>
            <a:endParaRPr lang="en-US" sz="4000" dirty="0"/>
          </a:p>
        </p:txBody>
      </p:sp>
      <p:sp>
        <p:nvSpPr>
          <p:cNvPr id="51" name="Shape 44"/>
          <p:cNvSpPr/>
          <p:nvPr/>
        </p:nvSpPr>
        <p:spPr>
          <a:xfrm>
            <a:off x="5568696" y="4069080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D9C4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5568696" y="406908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후반 지역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5568696" y="4416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버려진 지하철역</a:t>
            </a:r>
            <a:endParaRPr lang="en-US" sz="1800" dirty="0"/>
          </a:p>
        </p:txBody>
      </p:sp>
      <p:sp>
        <p:nvSpPr>
          <p:cNvPr id="54" name="Text 47"/>
          <p:cNvSpPr txBox="1"/>
          <p:nvPr/>
        </p:nvSpPr>
        <p:spPr>
          <a:xfrm>
            <a:off x="4562856" y="5056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끊어진 선로와 깊은 터널, 거대한 간격</a:t>
            </a:r>
            <a:endParaRPr lang="en-US" sz="1150" dirty="0"/>
          </a:p>
        </p:txBody>
      </p:sp>
      <p:sp>
        <p:nvSpPr>
          <p:cNvPr id="55" name="Shape 48"/>
          <p:cNvSpPr/>
          <p:nvPr/>
        </p:nvSpPr>
        <p:spPr>
          <a:xfrm>
            <a:off x="4562856" y="551383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A35C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4562856" y="55138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 대포알 탑승</a:t>
            </a:r>
            <a:endParaRPr lang="en-US" sz="1000" dirty="0"/>
          </a:p>
        </p:txBody>
      </p:sp>
      <p:sp>
        <p:nvSpPr>
          <p:cNvPr id="57" name="Text 50"/>
          <p:cNvSpPr txBox="1"/>
          <p:nvPr/>
        </p:nvSpPr>
        <p:spPr>
          <a:xfrm>
            <a:off x="5998464" y="5513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지역에서 진입</a:t>
            </a:r>
            <a:endParaRPr lang="en-US" sz="1050" dirty="0"/>
          </a:p>
        </p:txBody>
      </p:sp>
      <p:sp>
        <p:nvSpPr>
          <p:cNvPr id="58" name="Shape 51"/>
          <p:cNvSpPr/>
          <p:nvPr/>
        </p:nvSpPr>
        <p:spPr>
          <a:xfrm>
            <a:off x="8119872" y="37947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pic>
        <p:nvPicPr>
          <p:cNvPr id="59" name="Image 5" descr="map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023360"/>
            <a:ext cx="868680" cy="868680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10899648" y="394106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A35C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5</a:t>
            </a:r>
            <a:endParaRPr lang="en-US" sz="4000" dirty="0"/>
          </a:p>
        </p:txBody>
      </p:sp>
      <p:sp>
        <p:nvSpPr>
          <p:cNvPr id="61" name="Text 53"/>
          <p:cNvSpPr txBox="1"/>
          <p:nvPr/>
        </p:nvSpPr>
        <p:spPr>
          <a:xfrm>
            <a:off x="10863072" y="390448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5</a:t>
            </a:r>
            <a:endParaRPr lang="en-US" sz="4000" dirty="0"/>
          </a:p>
        </p:txBody>
      </p:sp>
      <p:sp>
        <p:nvSpPr>
          <p:cNvPr id="62" name="Shape 54"/>
          <p:cNvSpPr/>
          <p:nvPr/>
        </p:nvSpPr>
        <p:spPr>
          <a:xfrm>
            <a:off x="9354312" y="4069080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D9C4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9354312" y="406908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후반 지역</a:t>
            </a:r>
            <a:endParaRPr lang="en-US" sz="1000" dirty="0"/>
          </a:p>
        </p:txBody>
      </p:sp>
      <p:sp>
        <p:nvSpPr>
          <p:cNvPr id="64" name="Text 56"/>
          <p:cNvSpPr txBox="1"/>
          <p:nvPr/>
        </p:nvSpPr>
        <p:spPr>
          <a:xfrm>
            <a:off x="9354312" y="4416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도시 외곽 뒷산</a:t>
            </a:r>
            <a:endParaRPr lang="en-US" sz="1800" dirty="0"/>
          </a:p>
        </p:txBody>
      </p:sp>
      <p:sp>
        <p:nvSpPr>
          <p:cNvPr id="65" name="Text 57"/>
          <p:cNvSpPr txBox="1"/>
          <p:nvPr/>
        </p:nvSpPr>
        <p:spPr>
          <a:xfrm>
            <a:off x="8348472" y="5056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절벽과 상승기류가 부는 높은 산비탈</a:t>
            </a:r>
            <a:endParaRPr lang="en-US" sz="1150" dirty="0"/>
          </a:p>
        </p:txBody>
      </p:sp>
      <p:sp>
        <p:nvSpPr>
          <p:cNvPr id="66" name="Shape 58"/>
          <p:cNvSpPr/>
          <p:nvPr/>
        </p:nvSpPr>
        <p:spPr>
          <a:xfrm>
            <a:off x="8348472" y="551383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8348472" y="55138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 낙하산</a:t>
            </a:r>
            <a:endParaRPr lang="en-US" sz="1000" dirty="0"/>
          </a:p>
        </p:txBody>
      </p:sp>
      <p:sp>
        <p:nvSpPr>
          <p:cNvPr id="68" name="Text 60"/>
          <p:cNvSpPr txBox="1"/>
          <p:nvPr/>
        </p:nvSpPr>
        <p:spPr>
          <a:xfrm>
            <a:off x="9784080" y="5513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지역에서 진입</a:t>
            </a:r>
            <a:endParaRPr lang="en-US" sz="1050" dirty="0"/>
          </a:p>
        </p:txBody>
      </p:sp>
      <p:sp>
        <p:nvSpPr>
          <p:cNvPr id="69" name="Text 61"/>
          <p:cNvSpPr txBox="1"/>
          <p:nvPr/>
        </p:nvSpPr>
        <p:spPr>
          <a:xfrm>
            <a:off x="548640" y="60533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맵 이름·테마는 가안. 1·2·3의 보스 역할(스토리 보스 / 진엔딩 보스)은 고정이 아니라 플레이 진행 순서로 정해짐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월드 · 맵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2.2 맵 이동 구조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45236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14600" y="1645920"/>
            <a:ext cx="3154680" cy="4462272"/>
          </a:xfrm>
          <a:prstGeom prst="roundRect">
            <a:avLst>
              <a:gd name="adj" fmla="val 5797"/>
            </a:avLst>
          </a:prstGeom>
          <a:solidFill>
            <a:srgbClr val="F2FBE3"/>
          </a:solidFill>
          <a:ln w="15875">
            <a:solidFill>
              <a:srgbClr val="17131F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2670048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F6B1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지역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46520" y="1645920"/>
            <a:ext cx="1298448" cy="4462272"/>
          </a:xfrm>
          <a:prstGeom prst="roundRect">
            <a:avLst>
              <a:gd name="adj" fmla="val 14085"/>
            </a:avLst>
          </a:prstGeom>
          <a:solidFill>
            <a:srgbClr val="F1EBFF"/>
          </a:solidFill>
          <a:ln w="15875">
            <a:solidFill>
              <a:srgbClr val="17131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446520" y="17190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B2D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후반 지역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V="1">
            <a:off x="1767749" y="2598775"/>
            <a:ext cx="2682422" cy="1066091"/>
          </a:xfrm>
          <a:prstGeom prst="line">
            <a:avLst/>
          </a:prstGeom>
          <a:noFill/>
          <a:ln w="44450">
            <a:solidFill>
              <a:srgbClr val="4FD1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01368" y="3840480"/>
            <a:ext cx="1014984" cy="914"/>
          </a:xfrm>
          <a:prstGeom prst="line">
            <a:avLst/>
          </a:prstGeom>
          <a:noFill/>
          <a:ln w="44450">
            <a:solidFill>
              <a:srgbClr val="3DDC6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67749" y="4016095"/>
            <a:ext cx="2682422" cy="1066091"/>
          </a:xfrm>
          <a:prstGeom prst="line">
            <a:avLst/>
          </a:prstGeom>
          <a:noFill/>
          <a:ln w="44450">
            <a:solidFill>
              <a:srgbClr val="FF4A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3647785" y="2738425"/>
            <a:ext cx="888311" cy="786789"/>
          </a:xfrm>
          <a:prstGeom prst="line">
            <a:avLst/>
          </a:prstGeom>
          <a:noFill/>
          <a:ln w="44450">
            <a:solidFill>
              <a:srgbClr val="FF4A3D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92040" y="2898648"/>
            <a:ext cx="914" cy="1883664"/>
          </a:xfrm>
          <a:prstGeom prst="line">
            <a:avLst/>
          </a:prstGeom>
          <a:noFill/>
          <a:ln w="44450">
            <a:solidFill>
              <a:srgbClr val="3DDC6A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47785" y="4155745"/>
            <a:ext cx="888311" cy="786789"/>
          </a:xfrm>
          <a:prstGeom prst="line">
            <a:avLst/>
          </a:prstGeom>
          <a:noFill/>
          <a:ln w="44450">
            <a:solidFill>
              <a:srgbClr val="4FD1FF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69280" y="2212848"/>
            <a:ext cx="777240" cy="914"/>
          </a:xfrm>
          <a:prstGeom prst="line">
            <a:avLst/>
          </a:prstGeom>
          <a:noFill/>
          <a:ln w="57150">
            <a:solidFill>
              <a:srgbClr val="A35C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0" y="5468112"/>
            <a:ext cx="777240" cy="914"/>
          </a:xfrm>
          <a:prstGeom prst="line">
            <a:avLst/>
          </a:prstGeom>
          <a:noFill/>
          <a:ln w="5715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86600" y="2898648"/>
            <a:ext cx="914" cy="1883664"/>
          </a:xfrm>
          <a:prstGeom prst="line">
            <a:avLst/>
          </a:prstGeom>
          <a:noFill/>
          <a:ln w="31750">
            <a:solidFill>
              <a:srgbClr val="5E6670"/>
            </a:solidFill>
            <a:prstDash val="dash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5669280" y="3840480"/>
            <a:ext cx="777240" cy="914"/>
          </a:xfrm>
          <a:prstGeom prst="line">
            <a:avLst/>
          </a:prstGeom>
          <a:noFill/>
          <a:ln w="31750">
            <a:solidFill>
              <a:srgbClr val="5E6670"/>
            </a:solidFill>
            <a:prstDash val="dash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5256" y="34198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21" name="Image 0" descr="map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3456432"/>
            <a:ext cx="768096" cy="76809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453896" y="3346704"/>
            <a:ext cx="329184" cy="329184"/>
          </a:xfrm>
          <a:prstGeom prst="ellipse">
            <a:avLst/>
          </a:prstGeom>
          <a:solidFill>
            <a:srgbClr val="1713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453896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5800" y="4306824"/>
            <a:ext cx="128016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2920" y="43068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하수구 쥐 마을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471416" y="200253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27" name="Image 1" descr="map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039112"/>
            <a:ext cx="768096" cy="768096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5020056" y="1929384"/>
            <a:ext cx="329184" cy="329184"/>
          </a:xfrm>
          <a:prstGeom prst="ellipse">
            <a:avLst/>
          </a:prstGeom>
          <a:solidFill>
            <a:srgbClr val="1713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020056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320540" y="2889504"/>
            <a:ext cx="114300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4069080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번화가 뒷골목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2871216" y="34198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33" name="Image 2" descr="map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" y="3456432"/>
            <a:ext cx="768096" cy="768096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3419856" y="3346704"/>
            <a:ext cx="329184" cy="329184"/>
          </a:xfrm>
          <a:prstGeom prst="ellipse">
            <a:avLst/>
          </a:prstGeom>
          <a:solidFill>
            <a:srgbClr val="1713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419856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2583180" y="4306824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2468880" y="43068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도심 하천과 공원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4471416" y="483717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39" name="Image 3" descr="map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4873752"/>
            <a:ext cx="768096" cy="768096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5020056" y="4764024"/>
            <a:ext cx="329184" cy="329184"/>
          </a:xfrm>
          <a:prstGeom prst="ellipse">
            <a:avLst/>
          </a:prstGeom>
          <a:solidFill>
            <a:srgbClr val="1713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5020056" y="4764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114800" y="5724144"/>
            <a:ext cx="155448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4069080" y="57241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버려진 아파트 단지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6665976" y="200253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45" name="Image 4" descr="map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2039112"/>
            <a:ext cx="768096" cy="768096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7214616" y="1929384"/>
            <a:ext cx="329184" cy="329184"/>
          </a:xfrm>
          <a:prstGeom prst="ellipse">
            <a:avLst/>
          </a:prstGeom>
          <a:solidFill>
            <a:srgbClr val="1713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7214616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6446520" y="2889504"/>
            <a:ext cx="128016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6263640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버려진 지하철역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6665976" y="483717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51" name="Image 5" descr="map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4873752"/>
            <a:ext cx="768096" cy="768096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7214616" y="4764024"/>
            <a:ext cx="329184" cy="329184"/>
          </a:xfrm>
          <a:prstGeom prst="ellipse">
            <a:avLst/>
          </a:prstGeom>
          <a:solidFill>
            <a:srgbClr val="1713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7214616" y="4764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6446520" y="5724144"/>
            <a:ext cx="128016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55" name="Text 47"/>
          <p:cNvSpPr txBox="1"/>
          <p:nvPr/>
        </p:nvSpPr>
        <p:spPr>
          <a:xfrm>
            <a:off x="6263640" y="57241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외곽 뒷산</a:t>
            </a:r>
            <a:endParaRPr lang="en-US" sz="950" dirty="0"/>
          </a:p>
        </p:txBody>
      </p:sp>
      <p:sp>
        <p:nvSpPr>
          <p:cNvPr id="56" name="Shape 48"/>
          <p:cNvSpPr/>
          <p:nvPr/>
        </p:nvSpPr>
        <p:spPr>
          <a:xfrm>
            <a:off x="2724912" y="2679192"/>
            <a:ext cx="310896" cy="310896"/>
          </a:xfrm>
          <a:prstGeom prst="ellipse">
            <a:avLst/>
          </a:prstGeom>
          <a:solidFill>
            <a:srgbClr val="4FD1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2724912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100" dirty="0"/>
          </a:p>
        </p:txBody>
      </p:sp>
      <p:sp>
        <p:nvSpPr>
          <p:cNvPr id="58" name="Shape 50"/>
          <p:cNvSpPr/>
          <p:nvPr/>
        </p:nvSpPr>
        <p:spPr>
          <a:xfrm>
            <a:off x="2176272" y="3685032"/>
            <a:ext cx="310896" cy="310896"/>
          </a:xfrm>
          <a:prstGeom prst="ellipse">
            <a:avLst/>
          </a:prstGeom>
          <a:solidFill>
            <a:srgbClr val="3DDC6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2176272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100" dirty="0"/>
          </a:p>
        </p:txBody>
      </p:sp>
      <p:sp>
        <p:nvSpPr>
          <p:cNvPr id="60" name="Shape 52"/>
          <p:cNvSpPr/>
          <p:nvPr/>
        </p:nvSpPr>
        <p:spPr>
          <a:xfrm>
            <a:off x="2724912" y="4690872"/>
            <a:ext cx="310896" cy="310896"/>
          </a:xfrm>
          <a:prstGeom prst="ellipse">
            <a:avLst/>
          </a:prstGeom>
          <a:solidFill>
            <a:srgbClr val="FF4A3D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2724912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100" dirty="0"/>
          </a:p>
        </p:txBody>
      </p:sp>
      <p:sp>
        <p:nvSpPr>
          <p:cNvPr id="62" name="Shape 54"/>
          <p:cNvSpPr/>
          <p:nvPr/>
        </p:nvSpPr>
        <p:spPr>
          <a:xfrm>
            <a:off x="3941064" y="2971800"/>
            <a:ext cx="310896" cy="310896"/>
          </a:xfrm>
          <a:prstGeom prst="ellipse">
            <a:avLst/>
          </a:prstGeom>
          <a:solidFill>
            <a:srgbClr val="FF4A3D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3941064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100" dirty="0"/>
          </a:p>
        </p:txBody>
      </p:sp>
      <p:sp>
        <p:nvSpPr>
          <p:cNvPr id="64" name="Shape 56"/>
          <p:cNvSpPr/>
          <p:nvPr/>
        </p:nvSpPr>
        <p:spPr>
          <a:xfrm>
            <a:off x="4736592" y="3685032"/>
            <a:ext cx="310896" cy="310896"/>
          </a:xfrm>
          <a:prstGeom prst="ellipse">
            <a:avLst/>
          </a:prstGeom>
          <a:solidFill>
            <a:srgbClr val="3DDC6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4736592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100" dirty="0"/>
          </a:p>
        </p:txBody>
      </p:sp>
      <p:sp>
        <p:nvSpPr>
          <p:cNvPr id="66" name="Shape 58"/>
          <p:cNvSpPr/>
          <p:nvPr/>
        </p:nvSpPr>
        <p:spPr>
          <a:xfrm>
            <a:off x="3941064" y="4398264"/>
            <a:ext cx="310896" cy="310896"/>
          </a:xfrm>
          <a:prstGeom prst="ellipse">
            <a:avLst/>
          </a:prstGeom>
          <a:solidFill>
            <a:srgbClr val="4FD1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3941064" y="4398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100" dirty="0"/>
          </a:p>
        </p:txBody>
      </p:sp>
      <p:sp>
        <p:nvSpPr>
          <p:cNvPr id="68" name="Shape 60"/>
          <p:cNvSpPr/>
          <p:nvPr/>
        </p:nvSpPr>
        <p:spPr>
          <a:xfrm>
            <a:off x="5897880" y="2057400"/>
            <a:ext cx="310896" cy="310896"/>
          </a:xfrm>
          <a:prstGeom prst="ellipse">
            <a:avLst/>
          </a:prstGeom>
          <a:solidFill>
            <a:srgbClr val="A35C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9" name="Text 61"/>
          <p:cNvSpPr txBox="1"/>
          <p:nvPr/>
        </p:nvSpPr>
        <p:spPr>
          <a:xfrm>
            <a:off x="589788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100" dirty="0"/>
          </a:p>
        </p:txBody>
      </p:sp>
      <p:sp>
        <p:nvSpPr>
          <p:cNvPr id="70" name="Shape 62"/>
          <p:cNvSpPr/>
          <p:nvPr/>
        </p:nvSpPr>
        <p:spPr>
          <a:xfrm>
            <a:off x="5897880" y="5312664"/>
            <a:ext cx="310896" cy="310896"/>
          </a:xfrm>
          <a:prstGeom prst="ellipse">
            <a:avLst/>
          </a:prstGeom>
          <a:solidFill>
            <a:srgbClr val="2F6B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71" name="Text 63"/>
          <p:cNvSpPr txBox="1"/>
          <p:nvPr/>
        </p:nvSpPr>
        <p:spPr>
          <a:xfrm>
            <a:off x="5897880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endParaRPr lang="en-US" sz="1100" dirty="0"/>
          </a:p>
        </p:txBody>
      </p:sp>
      <p:sp>
        <p:nvSpPr>
          <p:cNvPr id="72" name="Text 64"/>
          <p:cNvSpPr txBox="1"/>
          <p:nvPr/>
        </p:nvSpPr>
        <p:spPr>
          <a:xfrm>
            <a:off x="5669280" y="350215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귀환</a:t>
            </a:r>
            <a:endParaRPr lang="en-US" sz="900" dirty="0"/>
          </a:p>
        </p:txBody>
      </p:sp>
      <p:sp>
        <p:nvSpPr>
          <p:cNvPr id="73" name="Text 65"/>
          <p:cNvSpPr txBox="1"/>
          <p:nvPr/>
        </p:nvSpPr>
        <p:spPr>
          <a:xfrm>
            <a:off x="7132320" y="37307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왕복</a:t>
            </a:r>
            <a:endParaRPr lang="en-US" sz="900" dirty="0"/>
          </a:p>
        </p:txBody>
      </p:sp>
      <p:sp>
        <p:nvSpPr>
          <p:cNvPr id="74" name="Shape 66"/>
          <p:cNvSpPr/>
          <p:nvPr/>
        </p:nvSpPr>
        <p:spPr>
          <a:xfrm>
            <a:off x="8229600" y="1417320"/>
            <a:ext cx="3410712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75" name="Text 67"/>
          <p:cNvSpPr txBox="1"/>
          <p:nvPr/>
        </p:nvSpPr>
        <p:spPr>
          <a:xfrm>
            <a:off x="8412480" y="1527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길을 여는 이동 스킬</a:t>
            </a:r>
            <a:endParaRPr lang="en-US" sz="1300" dirty="0"/>
          </a:p>
        </p:txBody>
      </p:sp>
      <p:pic>
        <p:nvPicPr>
          <p:cNvPr id="76" name="Image 6" descr="ab_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1874520"/>
            <a:ext cx="329184" cy="329184"/>
          </a:xfrm>
          <a:prstGeom prst="rect">
            <a:avLst/>
          </a:prstGeom>
        </p:spPr>
      </p:pic>
      <p:sp>
        <p:nvSpPr>
          <p:cNvPr id="77" name="Text 68"/>
          <p:cNvSpPr txBox="1"/>
          <p:nvPr/>
        </p:nvSpPr>
        <p:spPr>
          <a:xfrm>
            <a:off x="8851392" y="18745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 벽타기</a:t>
            </a:r>
            <a:endParaRPr lang="en-US" sz="1150" dirty="0"/>
          </a:p>
        </p:txBody>
      </p:sp>
      <p:sp>
        <p:nvSpPr>
          <p:cNvPr id="78" name="Text 69"/>
          <p:cNvSpPr txBox="1"/>
          <p:nvPr/>
        </p:nvSpPr>
        <p:spPr>
          <a:xfrm>
            <a:off x="10149840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 · 초반 이동</a:t>
            </a:r>
            <a:endParaRPr lang="en-US" sz="1000" dirty="0"/>
          </a:p>
        </p:txBody>
      </p:sp>
      <p:pic>
        <p:nvPicPr>
          <p:cNvPr id="79" name="Image 7" descr="ab_b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2249424"/>
            <a:ext cx="329184" cy="329184"/>
          </a:xfrm>
          <a:prstGeom prst="rect">
            <a:avLst/>
          </a:prstGeom>
        </p:spPr>
      </p:pic>
      <p:sp>
        <p:nvSpPr>
          <p:cNvPr id="80" name="Text 70"/>
          <p:cNvSpPr txBox="1"/>
          <p:nvPr/>
        </p:nvSpPr>
        <p:spPr>
          <a:xfrm>
            <a:off x="8851392" y="22494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 수영·잠수</a:t>
            </a:r>
            <a:endParaRPr lang="en-US" sz="1150" dirty="0"/>
          </a:p>
        </p:txBody>
      </p:sp>
      <p:sp>
        <p:nvSpPr>
          <p:cNvPr id="81" name="Text 71"/>
          <p:cNvSpPr txBox="1"/>
          <p:nvPr/>
        </p:nvSpPr>
        <p:spPr>
          <a:xfrm>
            <a:off x="10149840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 · 초반 이동</a:t>
            </a:r>
            <a:endParaRPr lang="en-US" sz="1000" dirty="0"/>
          </a:p>
        </p:txBody>
      </p:sp>
      <p:pic>
        <p:nvPicPr>
          <p:cNvPr id="82" name="Image 8" descr="ab_c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2624328"/>
            <a:ext cx="329184" cy="329184"/>
          </a:xfrm>
          <a:prstGeom prst="rect">
            <a:avLst/>
          </a:prstGeom>
        </p:spPr>
      </p:pic>
      <p:sp>
        <p:nvSpPr>
          <p:cNvPr id="83" name="Text 72"/>
          <p:cNvSpPr txBox="1"/>
          <p:nvPr/>
        </p:nvSpPr>
        <p:spPr>
          <a:xfrm>
            <a:off x="8851392" y="26243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 사슬팔</a:t>
            </a:r>
            <a:endParaRPr lang="en-US" sz="1150" dirty="0"/>
          </a:p>
        </p:txBody>
      </p:sp>
      <p:sp>
        <p:nvSpPr>
          <p:cNvPr id="84" name="Text 73"/>
          <p:cNvSpPr txBox="1"/>
          <p:nvPr/>
        </p:nvSpPr>
        <p:spPr>
          <a:xfrm>
            <a:off x="10149840" y="26243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 · 초반 이동</a:t>
            </a:r>
            <a:endParaRPr lang="en-US" sz="1000" dirty="0"/>
          </a:p>
        </p:txBody>
      </p:sp>
      <p:pic>
        <p:nvPicPr>
          <p:cNvPr id="85" name="Image 9" descr="ab_d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80" y="2999232"/>
            <a:ext cx="329184" cy="329184"/>
          </a:xfrm>
          <a:prstGeom prst="rect">
            <a:avLst/>
          </a:prstGeom>
        </p:spPr>
      </p:pic>
      <p:sp>
        <p:nvSpPr>
          <p:cNvPr id="86" name="Text 74"/>
          <p:cNvSpPr txBox="1"/>
          <p:nvPr/>
        </p:nvSpPr>
        <p:spPr>
          <a:xfrm>
            <a:off x="8851392" y="29992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  대포알 탑승</a:t>
            </a:r>
            <a:endParaRPr lang="en-US" sz="1150" dirty="0"/>
          </a:p>
        </p:txBody>
      </p:sp>
      <p:sp>
        <p:nvSpPr>
          <p:cNvPr id="87" name="Text 75"/>
          <p:cNvSpPr txBox="1"/>
          <p:nvPr/>
        </p:nvSpPr>
        <p:spPr>
          <a:xfrm>
            <a:off x="10149840" y="29992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2티어 · 후반 진입</a:t>
            </a:r>
            <a:endParaRPr lang="en-US" sz="1000" dirty="0"/>
          </a:p>
        </p:txBody>
      </p:sp>
      <p:pic>
        <p:nvPicPr>
          <p:cNvPr id="88" name="Image 10" descr="ab_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0" y="3374136"/>
            <a:ext cx="329184" cy="329184"/>
          </a:xfrm>
          <a:prstGeom prst="rect">
            <a:avLst/>
          </a:prstGeom>
        </p:spPr>
      </p:pic>
      <p:sp>
        <p:nvSpPr>
          <p:cNvPr id="89" name="Text 76"/>
          <p:cNvSpPr txBox="1"/>
          <p:nvPr/>
        </p:nvSpPr>
        <p:spPr>
          <a:xfrm>
            <a:off x="8851392" y="33741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  낙하산</a:t>
            </a:r>
            <a:endParaRPr lang="en-US" sz="1150" dirty="0"/>
          </a:p>
        </p:txBody>
      </p:sp>
      <p:sp>
        <p:nvSpPr>
          <p:cNvPr id="90" name="Text 77"/>
          <p:cNvSpPr txBox="1"/>
          <p:nvPr/>
        </p:nvSpPr>
        <p:spPr>
          <a:xfrm>
            <a:off x="10149840" y="33741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2티어 · 후반 진입</a:t>
            </a:r>
            <a:endParaRPr lang="en-US" sz="1000" dirty="0"/>
          </a:p>
        </p:txBody>
      </p:sp>
      <p:sp>
        <p:nvSpPr>
          <p:cNvPr id="91" name="Shape 78"/>
          <p:cNvSpPr/>
          <p:nvPr/>
        </p:nvSpPr>
        <p:spPr>
          <a:xfrm>
            <a:off x="8229600" y="4023360"/>
            <a:ext cx="341071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92" name="Text 79"/>
          <p:cNvSpPr txBox="1"/>
          <p:nvPr/>
        </p:nvSpPr>
        <p:spPr>
          <a:xfrm>
            <a:off x="841248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규칙</a:t>
            </a:r>
            <a:endParaRPr lang="en-US" sz="1300" dirty="0"/>
          </a:p>
        </p:txBody>
      </p:sp>
      <p:sp>
        <p:nvSpPr>
          <p:cNvPr id="93" name="Text 80"/>
          <p:cNvSpPr txBox="1"/>
          <p:nvPr/>
        </p:nvSpPr>
        <p:spPr>
          <a:xfrm>
            <a:off x="8412480" y="4462272"/>
            <a:ext cx="3090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→ 1·2·3 단방향. 0으로는 돌아오지 않음</a:t>
            </a:r>
            <a:endParaRPr lang="en-US" sz="110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1·2·3 사이는 같은 스킬로 양방향</a:t>
            </a:r>
            <a:endParaRPr lang="en-US" sz="110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1·2·3 어디서든 d → 4, e → 5</a:t>
            </a:r>
            <a:endParaRPr lang="en-US" sz="110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↔ 5, 4·5 → 1·2·3은 스킬 없이 이동</a:t>
            </a:r>
            <a:endParaRPr lang="en-US" sz="110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초반 맵 1곳은 4·5에 처음 들어갈 때까지 스토리 잠금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월드 · 맵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2.3 진행 흐름 · 엔딩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7276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C9D1C8"/>
          </a:solidFill>
          <a:ln w="12700">
            <a:solidFill>
              <a:srgbClr val="1713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5727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050" dirty="0"/>
          </a:p>
        </p:txBody>
      </p:sp>
      <p:pic>
        <p:nvPicPr>
          <p:cNvPr id="8" name="Image 0" descr="loop_b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993392"/>
            <a:ext cx="640080" cy="640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706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· 시작 맵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926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보스 처치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2461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 a·b·c 중 1개 선택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58568" y="2313432"/>
            <a:ext cx="160020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427732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37460" y="157276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B6F23A"/>
          </a:solidFill>
          <a:ln w="12700">
            <a:solidFill>
              <a:srgbClr val="17131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537460" y="15727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050" dirty="0"/>
          </a:p>
        </p:txBody>
      </p:sp>
      <p:pic>
        <p:nvPicPr>
          <p:cNvPr id="16" name="Image 1" descr="loop_bo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084" y="1993392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519172" y="2706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번째 초반 맵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2519172" y="2926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 보스 처치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2519172" y="32461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1티어 1개 선택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두 번째 맵·진엔딩 지역 확정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137660" y="2313432"/>
            <a:ext cx="160020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4306824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416552" y="157276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B6F23A"/>
          </a:solidFill>
          <a:ln w="12700">
            <a:solidFill>
              <a:srgbClr val="17131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416552" y="15727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050" dirty="0"/>
          </a:p>
        </p:txBody>
      </p:sp>
      <p:pic>
        <p:nvPicPr>
          <p:cNvPr id="24" name="Image 2" descr="loop_bo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1993392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398264" y="2706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번째 초반 맵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4398264" y="2926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 보스 처치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4398264" y="32461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2티어 d·e 중 1개 선택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016752" y="2313432"/>
            <a:ext cx="160020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6185916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295644" y="157276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D9C4FF"/>
          </a:solidFill>
          <a:ln w="12700">
            <a:solidFill>
              <a:srgbClr val="17131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295644" y="15727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1050" dirty="0"/>
          </a:p>
        </p:txBody>
      </p:sp>
      <p:pic>
        <p:nvPicPr>
          <p:cNvPr id="32" name="Image 3" descr="loop_ski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268" y="1993392"/>
            <a:ext cx="640080" cy="64008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277356" y="2706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또는 5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6277356" y="2926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후반 지역 첫 진입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277356" y="32461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초반 맵 잠금 영구 해제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7895844" y="2313432"/>
            <a:ext cx="160020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8065008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8174736" y="157276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D9C4FF"/>
          </a:solidFill>
          <a:ln w="12700">
            <a:solidFill>
              <a:srgbClr val="17131F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8174736" y="15727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</a:t>
            </a:r>
            <a:endParaRPr lang="en-US" sz="1050" dirty="0"/>
          </a:p>
        </p:txBody>
      </p:sp>
      <p:pic>
        <p:nvPicPr>
          <p:cNvPr id="40" name="Image 4" descr="end_norm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993392"/>
            <a:ext cx="640080" cy="64008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8156448" y="2706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5 · 전 지역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8156448" y="2926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노말 엔딩 + 전 맵 탐험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8156448" y="32461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조건 모두 충족 시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진엔딩 보스 개방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9774936" y="2313432"/>
            <a:ext cx="160020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9944100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10053828" y="157276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FF3D8B"/>
          </a:solidFill>
          <a:ln w="12700">
            <a:solidFill>
              <a:srgbClr val="17131F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10053828" y="15727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</a:t>
            </a:r>
            <a:endParaRPr lang="en-US" sz="1050" dirty="0"/>
          </a:p>
        </p:txBody>
      </p:sp>
      <p:pic>
        <p:nvPicPr>
          <p:cNvPr id="48" name="Image 5" descr="end_tru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4452" y="1993392"/>
            <a:ext cx="640080" cy="64008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10035540" y="2706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남겨 둔 초반 맵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10035540" y="2926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진엔딩 보스 처치</a:t>
            </a:r>
            <a:endParaRPr lang="en-US" sz="1200" dirty="0"/>
          </a:p>
        </p:txBody>
      </p:sp>
      <p:sp>
        <p:nvSpPr>
          <p:cNvPr id="51" name="Text 43"/>
          <p:cNvSpPr txBox="1"/>
          <p:nvPr/>
        </p:nvSpPr>
        <p:spPr>
          <a:xfrm>
            <a:off x="10035540" y="32461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진엔딩 · 명검 완성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548640" y="4206240"/>
            <a:ext cx="5852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53" name="Text 45"/>
          <p:cNvSpPr txBox="1"/>
          <p:nvPr/>
        </p:nvSpPr>
        <p:spPr>
          <a:xfrm>
            <a:off x="73152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예시: c → a → d 선택</a:t>
            </a:r>
            <a:endParaRPr lang="en-US" sz="1300" dirty="0"/>
          </a:p>
        </p:txBody>
      </p:sp>
      <p:sp>
        <p:nvSpPr>
          <p:cNvPr id="54" name="Shape 46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C9D1C8"/>
          </a:solidFill>
          <a:ln w="22225">
            <a:solidFill>
              <a:srgbClr val="17131F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</a:t>
            </a:r>
            <a:endParaRPr lang="en-US" sz="2200" dirty="0"/>
          </a:p>
        </p:txBody>
      </p:sp>
      <p:sp>
        <p:nvSpPr>
          <p:cNvPr id="56" name="Shape 48"/>
          <p:cNvSpPr/>
          <p:nvPr/>
        </p:nvSpPr>
        <p:spPr>
          <a:xfrm>
            <a:off x="1517904" y="5074920"/>
            <a:ext cx="438912" cy="914"/>
          </a:xfrm>
          <a:prstGeom prst="line">
            <a:avLst/>
          </a:prstGeom>
          <a:noFill/>
          <a:ln w="44450">
            <a:solidFill>
              <a:srgbClr val="4FD1FF"/>
            </a:solidFill>
            <a:prstDash val="solid"/>
            <a:tailEnd type="triangle"/>
          </a:ln>
        </p:spPr>
      </p:sp>
      <p:sp>
        <p:nvSpPr>
          <p:cNvPr id="57" name="Text 49"/>
          <p:cNvSpPr txBox="1"/>
          <p:nvPr/>
        </p:nvSpPr>
        <p:spPr>
          <a:xfrm>
            <a:off x="155448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58" name="Shape 50"/>
          <p:cNvSpPr/>
          <p:nvPr/>
        </p:nvSpPr>
        <p:spPr>
          <a:xfrm>
            <a:off x="2011680" y="4754880"/>
            <a:ext cx="640080" cy="640080"/>
          </a:xfrm>
          <a:prstGeom prst="ellipse">
            <a:avLst/>
          </a:prstGeom>
          <a:solidFill>
            <a:srgbClr val="B6F23A"/>
          </a:solidFill>
          <a:ln w="22225">
            <a:solidFill>
              <a:srgbClr val="17131F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201168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</a:t>
            </a:r>
            <a:endParaRPr lang="en-US" sz="2200" dirty="0"/>
          </a:p>
        </p:txBody>
      </p:sp>
      <p:sp>
        <p:nvSpPr>
          <p:cNvPr id="60" name="Shape 52"/>
          <p:cNvSpPr/>
          <p:nvPr/>
        </p:nvSpPr>
        <p:spPr>
          <a:xfrm>
            <a:off x="2706624" y="5074920"/>
            <a:ext cx="438912" cy="914"/>
          </a:xfrm>
          <a:prstGeom prst="line">
            <a:avLst/>
          </a:prstGeom>
          <a:noFill/>
          <a:ln w="44450">
            <a:solidFill>
              <a:srgbClr val="FF4A3D"/>
            </a:solidFill>
            <a:prstDash val="solid"/>
            <a:tailEnd type="triangle"/>
          </a:ln>
        </p:spPr>
      </p:sp>
      <p:sp>
        <p:nvSpPr>
          <p:cNvPr id="61" name="Text 53"/>
          <p:cNvSpPr txBox="1"/>
          <p:nvPr/>
        </p:nvSpPr>
        <p:spPr>
          <a:xfrm>
            <a:off x="274320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62" name="Shape 54"/>
          <p:cNvSpPr/>
          <p:nvPr/>
        </p:nvSpPr>
        <p:spPr>
          <a:xfrm>
            <a:off x="3200400" y="4754880"/>
            <a:ext cx="640080" cy="640080"/>
          </a:xfrm>
          <a:prstGeom prst="ellipse">
            <a:avLst/>
          </a:prstGeom>
          <a:solidFill>
            <a:srgbClr val="B6F23A"/>
          </a:solidFill>
          <a:ln w="22225">
            <a:solidFill>
              <a:srgbClr val="17131F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320040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</a:t>
            </a:r>
            <a:endParaRPr lang="en-US" sz="2200" dirty="0"/>
          </a:p>
        </p:txBody>
      </p:sp>
      <p:sp>
        <p:nvSpPr>
          <p:cNvPr id="64" name="Shape 56"/>
          <p:cNvSpPr/>
          <p:nvPr/>
        </p:nvSpPr>
        <p:spPr>
          <a:xfrm>
            <a:off x="3895344" y="5074920"/>
            <a:ext cx="438912" cy="914"/>
          </a:xfrm>
          <a:prstGeom prst="line">
            <a:avLst/>
          </a:prstGeom>
          <a:noFill/>
          <a:ln w="44450">
            <a:solidFill>
              <a:srgbClr val="A35CFF"/>
            </a:solidFill>
            <a:prstDash val="solid"/>
            <a:tailEnd type="triangle"/>
          </a:ln>
        </p:spPr>
      </p:sp>
      <p:sp>
        <p:nvSpPr>
          <p:cNvPr id="65" name="Text 57"/>
          <p:cNvSpPr txBox="1"/>
          <p:nvPr/>
        </p:nvSpPr>
        <p:spPr>
          <a:xfrm>
            <a:off x="393192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200" dirty="0"/>
          </a:p>
        </p:txBody>
      </p:sp>
      <p:sp>
        <p:nvSpPr>
          <p:cNvPr id="66" name="Shape 58"/>
          <p:cNvSpPr/>
          <p:nvPr/>
        </p:nvSpPr>
        <p:spPr>
          <a:xfrm>
            <a:off x="4389120" y="4754880"/>
            <a:ext cx="640080" cy="640080"/>
          </a:xfrm>
          <a:prstGeom prst="ellipse">
            <a:avLst/>
          </a:prstGeom>
          <a:solidFill>
            <a:srgbClr val="D9C4FF"/>
          </a:solidFill>
          <a:ln w="22225">
            <a:solidFill>
              <a:srgbClr val="17131F"/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438912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4</a:t>
            </a:r>
            <a:endParaRPr lang="en-US" sz="2200" dirty="0"/>
          </a:p>
        </p:txBody>
      </p:sp>
      <p:sp>
        <p:nvSpPr>
          <p:cNvPr id="68" name="Shape 60"/>
          <p:cNvSpPr/>
          <p:nvPr/>
        </p:nvSpPr>
        <p:spPr>
          <a:xfrm>
            <a:off x="5230368" y="4709160"/>
            <a:ext cx="0" cy="731520"/>
          </a:xfrm>
          <a:prstGeom prst="line">
            <a:avLst/>
          </a:prstGeom>
          <a:noFill/>
          <a:ln w="15875">
            <a:solidFill>
              <a:srgbClr val="C9D1C8"/>
            </a:solidFill>
            <a:prstDash val="solid"/>
          </a:ln>
        </p:spPr>
      </p:sp>
      <p:pic>
        <p:nvPicPr>
          <p:cNvPr id="69" name="Image 6" descr="lo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4754880"/>
            <a:ext cx="640080" cy="640080"/>
          </a:xfrm>
          <a:prstGeom prst="rect">
            <a:avLst/>
          </a:prstGeom>
        </p:spPr>
      </p:pic>
      <p:sp>
        <p:nvSpPr>
          <p:cNvPr id="70" name="Text 61"/>
          <p:cNvSpPr txBox="1"/>
          <p:nvPr/>
        </p:nvSpPr>
        <p:spPr>
          <a:xfrm>
            <a:off x="5120640" y="54132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3번 맵 잠김</a:t>
            </a:r>
            <a:endParaRPr lang="en-US" sz="1000" dirty="0"/>
          </a:p>
        </p:txBody>
      </p:sp>
      <p:sp>
        <p:nvSpPr>
          <p:cNvPr id="71" name="Text 62"/>
          <p:cNvSpPr txBox="1"/>
          <p:nvPr/>
        </p:nvSpPr>
        <p:spPr>
          <a:xfrm>
            <a:off x="731520" y="568756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첫 진입 → 3번 잠금 해제 → 전 지역 탐험 → 노말 엔딩 → 3번 맵에서 진엔딩 보스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 순서 6가지 × 2티어 2가지 = 12가지 진행 경로</a:t>
            </a:r>
            <a:endParaRPr lang="en-US" sz="1100" dirty="0"/>
          </a:p>
        </p:txBody>
      </p:sp>
      <p:sp>
        <p:nvSpPr>
          <p:cNvPr id="72" name="Shape 63"/>
          <p:cNvSpPr/>
          <p:nvPr/>
        </p:nvSpPr>
        <p:spPr>
          <a:xfrm>
            <a:off x="6629400" y="4206240"/>
            <a:ext cx="5010912" cy="2103120"/>
          </a:xfrm>
          <a:prstGeom prst="roundRect">
            <a:avLst>
              <a:gd name="adj" fmla="val 5217"/>
            </a:avLst>
          </a:prstGeom>
          <a:solidFill>
            <a:srgbClr val="17131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73" name="Text 64"/>
          <p:cNvSpPr txBox="1"/>
          <p:nvPr/>
        </p:nvSpPr>
        <p:spPr>
          <a:xfrm>
            <a:off x="6812280" y="4315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D8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엔딩 조건</a:t>
            </a:r>
            <a:endParaRPr lang="en-US" sz="1300" dirty="0"/>
          </a:p>
        </p:txBody>
      </p:sp>
      <p:sp>
        <p:nvSpPr>
          <p:cNvPr id="74" name="Shape 65"/>
          <p:cNvSpPr/>
          <p:nvPr/>
        </p:nvSpPr>
        <p:spPr>
          <a:xfrm>
            <a:off x="6858000" y="470916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131F"/>
            </a:solidFill>
            <a:prstDash val="solid"/>
          </a:ln>
        </p:spPr>
      </p:sp>
      <p:pic>
        <p:nvPicPr>
          <p:cNvPr id="75" name="Image 7" descr="end_norma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9752" y="4782312"/>
            <a:ext cx="585216" cy="585216"/>
          </a:xfrm>
          <a:prstGeom prst="rect">
            <a:avLst/>
          </a:prstGeom>
        </p:spPr>
      </p:pic>
      <p:sp>
        <p:nvSpPr>
          <p:cNvPr id="76" name="Text 66"/>
          <p:cNvSpPr txBox="1"/>
          <p:nvPr/>
        </p:nvSpPr>
        <p:spPr>
          <a:xfrm>
            <a:off x="6903720" y="5394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노말 엔딩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 또는 5)</a:t>
            </a:r>
            <a:endParaRPr lang="en-US" sz="1000" dirty="0"/>
          </a:p>
        </p:txBody>
      </p:sp>
      <p:sp>
        <p:nvSpPr>
          <p:cNvPr id="77" name="Text 67"/>
          <p:cNvSpPr txBox="1"/>
          <p:nvPr/>
        </p:nvSpPr>
        <p:spPr>
          <a:xfrm>
            <a:off x="8074152" y="4937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D8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+</a:t>
            </a:r>
            <a:endParaRPr lang="en-US" sz="3000" dirty="0"/>
          </a:p>
        </p:txBody>
      </p:sp>
      <p:sp>
        <p:nvSpPr>
          <p:cNvPr id="78" name="Shape 68"/>
          <p:cNvSpPr/>
          <p:nvPr/>
        </p:nvSpPr>
        <p:spPr>
          <a:xfrm>
            <a:off x="8458200" y="470916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131F"/>
            </a:solidFill>
            <a:prstDash val="solid"/>
          </a:ln>
        </p:spPr>
      </p:sp>
      <p:pic>
        <p:nvPicPr>
          <p:cNvPr id="79" name="Image 8" descr="explore_al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9952" y="4782312"/>
            <a:ext cx="585216" cy="585216"/>
          </a:xfrm>
          <a:prstGeom prst="rect">
            <a:avLst/>
          </a:prstGeom>
        </p:spPr>
      </p:pic>
      <p:sp>
        <p:nvSpPr>
          <p:cNvPr id="80" name="Text 69"/>
          <p:cNvSpPr txBox="1"/>
          <p:nvPr/>
        </p:nvSpPr>
        <p:spPr>
          <a:xfrm>
            <a:off x="8503920" y="5394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1~5 맵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탐험 완료</a:t>
            </a:r>
            <a:endParaRPr lang="en-US" sz="1000" dirty="0"/>
          </a:p>
        </p:txBody>
      </p:sp>
      <p:sp>
        <p:nvSpPr>
          <p:cNvPr id="81" name="Text 70"/>
          <p:cNvSpPr txBox="1"/>
          <p:nvPr/>
        </p:nvSpPr>
        <p:spPr>
          <a:xfrm>
            <a:off x="9674352" y="4937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D8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=</a:t>
            </a:r>
            <a:endParaRPr lang="en-US" sz="3000" dirty="0"/>
          </a:p>
        </p:txBody>
      </p:sp>
      <p:sp>
        <p:nvSpPr>
          <p:cNvPr id="82" name="Shape 71"/>
          <p:cNvSpPr/>
          <p:nvPr/>
        </p:nvSpPr>
        <p:spPr>
          <a:xfrm>
            <a:off x="10085832" y="470916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131F"/>
            </a:solidFill>
            <a:prstDash val="solid"/>
          </a:ln>
        </p:spPr>
      </p:sp>
      <p:pic>
        <p:nvPicPr>
          <p:cNvPr id="83" name="Image 9" descr="end_tru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87584" y="4782312"/>
            <a:ext cx="585216" cy="585216"/>
          </a:xfrm>
          <a:prstGeom prst="rect">
            <a:avLst/>
          </a:prstGeom>
        </p:spPr>
      </p:pic>
      <p:sp>
        <p:nvSpPr>
          <p:cNvPr id="84" name="Text 72"/>
          <p:cNvSpPr txBox="1"/>
          <p:nvPr/>
        </p:nvSpPr>
        <p:spPr>
          <a:xfrm>
            <a:off x="10131552" y="5394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진엔딩 보스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도전 가능</a:t>
            </a:r>
            <a:endParaRPr lang="en-US" sz="1000" dirty="0"/>
          </a:p>
        </p:txBody>
      </p:sp>
      <p:sp>
        <p:nvSpPr>
          <p:cNvPr id="85" name="Text 73"/>
          <p:cNvSpPr txBox="1"/>
          <p:nvPr/>
        </p:nvSpPr>
        <p:spPr>
          <a:xfrm>
            <a:off x="6858000" y="5961888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맵 0과 진엔딩 보스 처치는 탐험 완료 조건에서 제외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" y="1316736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0" dirty="0">
                <a:solidFill>
                  <a:srgbClr val="FF3D8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0" dirty="0">
                <a:solidFill>
                  <a:srgbClr val="FFD8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11000" dirty="0"/>
          </a:p>
        </p:txBody>
      </p:sp>
      <p:pic>
        <p:nvPicPr>
          <p:cNvPr id="4" name="Image 0" descr="toc_grow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1600200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880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성장 시스템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96112" y="38404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  성장 구조</a:t>
            </a:r>
            <a:endParaRPr lang="en-US" sz="14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  이동 스킬 (보스 보상)</a:t>
            </a:r>
            <a:endParaRPr lang="en-US" sz="14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  전투 스킬 (탐험 보상)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960120"/>
            <a:ext cx="4754880" cy="4937760"/>
          </a:xfrm>
          <a:prstGeom prst="roundRect">
            <a:avLst>
              <a:gd name="adj" fmla="val 2308"/>
            </a:avLst>
          </a:prstGeom>
          <a:solidFill>
            <a:srgbClr val="F0F2EC"/>
          </a:solidFill>
          <a:ln w="3175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88900" dir="2700000">
              <a:srgbClr val="17131F">
                <a:alpha val="10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95160" y="1188720"/>
            <a:ext cx="4114800" cy="18288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3246120"/>
            <a:ext cx="2468880" cy="2468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성장 시스템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3.1 성장 구조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20440" cy="38862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3154680" cy="1325880"/>
          </a:xfrm>
          <a:prstGeom prst="roundRect">
            <a:avLst>
              <a:gd name="adj" fmla="val 6897"/>
            </a:avLst>
          </a:prstGeom>
          <a:solidFill>
            <a:srgbClr val="B6F23A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7" name="Image 0" descr="loop_b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10512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03120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이동 스킬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121408" y="23591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21408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처치 보상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461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보스를 잡으면 이동 스킬 선택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지역으로 넘어가는 열쇠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보유 3개 (1티어 2, 2티어 1)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명검 부품 1개 함께 획득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34256" y="1463040"/>
            <a:ext cx="3520440" cy="38862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17136" y="1645920"/>
            <a:ext cx="3154680" cy="1325880"/>
          </a:xfrm>
          <a:prstGeom prst="roundRect">
            <a:avLst>
              <a:gd name="adj" fmla="val 6897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14" name="Image 1" descr="loop_explo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810512"/>
            <a:ext cx="1005840" cy="10058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88736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전투 스킬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5907024" y="23591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07024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탐험 보상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4608576" y="32461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숨은 방·보물 상자·탐험 목표에서 발견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공격 기술과 연계 추가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 방식을 넓히는 보상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길을 막는 조건으로는 쓰지 않음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9872" y="1463040"/>
            <a:ext cx="3520440" cy="3886200"/>
          </a:xfrm>
          <a:prstGeom prst="roundRect">
            <a:avLst>
              <a:gd name="adj" fmla="val 3117"/>
            </a:avLst>
          </a:prstGeom>
          <a:solidFill>
            <a:srgbClr val="E7EAE4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02752" y="1645920"/>
            <a:ext cx="3154680" cy="1325880"/>
          </a:xfrm>
          <a:prstGeom prst="roundRect">
            <a:avLst>
              <a:gd name="adj" fmla="val 6897"/>
            </a:avLst>
          </a:prstGeom>
          <a:solidFill>
            <a:srgbClr val="C9D1C8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21" name="Image 2" descr="st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810512"/>
            <a:ext cx="1005840" cy="10058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674352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스탯 성장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9692640" y="23591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7131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692640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제외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8394192" y="32461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레벨·경험치(치즈) 제외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공격력·체력 능력치 노드 제외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성장은 수치가 아니라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수 있는 행동으로 표현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531352" y="1783080"/>
            <a:ext cx="960120" cy="1051560"/>
          </a:xfrm>
          <a:prstGeom prst="line">
            <a:avLst/>
          </a:prstGeom>
          <a:noFill/>
          <a:ln w="88900">
            <a:solidFill>
              <a:srgbClr val="FF4A3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 flipH="1">
            <a:off x="8531352" y="1783080"/>
            <a:ext cx="960120" cy="1051560"/>
          </a:xfrm>
          <a:prstGeom prst="line">
            <a:avLst/>
          </a:prstGeom>
          <a:noFill/>
          <a:ln w="88900">
            <a:solidFill>
              <a:srgbClr val="FF4A3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48640" y="5596128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7131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29" name="Image 3" descr="sword_p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669280"/>
            <a:ext cx="512064" cy="51206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371600" y="5596128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원칙  보스 = 갈 수 있는 곳이 넓어짐 · 탐험 = 싸우는 방법이 늘어남 · 모든 보스의 명검 부품을 모아 전설의 명검 완성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성장 시스템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3.2 이동 스킬 (보스 보상)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075688" cy="324612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1801368" cy="1371600"/>
          </a:xfrm>
          <a:prstGeom prst="roundRect">
            <a:avLst>
              <a:gd name="adj" fmla="val 6667"/>
            </a:avLst>
          </a:prstGeom>
          <a:solidFill>
            <a:srgbClr val="FF4A3D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7" name="Image 0" descr="ab_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1737360"/>
            <a:ext cx="1097280" cy="1097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3108960"/>
            <a:ext cx="68580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310896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167128" y="307238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4A3D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4290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벽타기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79476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벽을 이용한 수직 이동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05079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지정된 거친 벽을 붙잡고 오르기. 벽 점프 포함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802636" y="1463040"/>
            <a:ext cx="2075688" cy="324612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939796" y="1600200"/>
            <a:ext cx="1801368" cy="1371600"/>
          </a:xfrm>
          <a:prstGeom prst="roundRect">
            <a:avLst>
              <a:gd name="adj" fmla="val 6667"/>
            </a:avLst>
          </a:prstGeom>
          <a:solidFill>
            <a:srgbClr val="3DDC6A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16" name="Image 1" descr="ab_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737360"/>
            <a:ext cx="1097280" cy="10972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939796" y="3108960"/>
            <a:ext cx="68580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939796" y="310896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421124" y="307238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DDC6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b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2939796" y="34290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수영·잠수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2939796" y="379476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수중 통로 탐험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2939796" y="405079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 이동은 기본, 획득 시 잠수와 빠른 유영 해금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056632" y="1463040"/>
            <a:ext cx="2075688" cy="324612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193792" y="1600200"/>
            <a:ext cx="1801368" cy="1371600"/>
          </a:xfrm>
          <a:prstGeom prst="roundRect">
            <a:avLst>
              <a:gd name="adj" fmla="val 6667"/>
            </a:avLst>
          </a:prstGeom>
          <a:solidFill>
            <a:srgbClr val="4FD1FF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25" name="Image 2" descr="ab_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36" y="1737360"/>
            <a:ext cx="1097280" cy="109728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193792" y="3108960"/>
            <a:ext cx="68580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193792" y="310896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675120" y="307238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FD1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5193792" y="34290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사슬팔</a:t>
            </a:r>
            <a:endParaRPr lang="en-US" sz="1700" dirty="0"/>
          </a:p>
        </p:txBody>
      </p:sp>
      <p:sp>
        <p:nvSpPr>
          <p:cNvPr id="30" name="Text 25"/>
          <p:cNvSpPr txBox="1"/>
          <p:nvPr/>
        </p:nvSpPr>
        <p:spPr>
          <a:xfrm>
            <a:off x="5193792" y="379476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고리 사이 이동·스윙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5193792" y="405079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가까운 고리 자동 조준. 매달리기·당기기·놓기로 단순 조작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7310628" y="1463040"/>
            <a:ext cx="2075688" cy="324612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7447788" y="1600200"/>
            <a:ext cx="1801368" cy="1371600"/>
          </a:xfrm>
          <a:prstGeom prst="roundRect">
            <a:avLst>
              <a:gd name="adj" fmla="val 6667"/>
            </a:avLst>
          </a:prstGeom>
          <a:solidFill>
            <a:srgbClr val="A35CFF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34" name="Image 3" descr="ab_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1737360"/>
            <a:ext cx="1097280" cy="109728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7447788" y="3108960"/>
            <a:ext cx="685800" cy="246888"/>
          </a:xfrm>
          <a:prstGeom prst="roundRect">
            <a:avLst>
              <a:gd name="adj" fmla="val 50000"/>
            </a:avLst>
          </a:prstGeom>
          <a:solidFill>
            <a:srgbClr val="17131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7447788" y="310896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2티어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8929116" y="307238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35C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d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7447788" y="34290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대포알 탑승</a:t>
            </a:r>
            <a:endParaRPr lang="en-US" sz="1700" dirty="0"/>
          </a:p>
        </p:txBody>
      </p:sp>
      <p:sp>
        <p:nvSpPr>
          <p:cNvPr id="39" name="Text 33"/>
          <p:cNvSpPr txBox="1"/>
          <p:nvPr/>
        </p:nvSpPr>
        <p:spPr>
          <a:xfrm>
            <a:off x="7447788" y="379476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거대한 간격·높이 돌파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7447788" y="405079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맵에 설치된 대포에 들어가 조준 후 발사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9564624" y="1463040"/>
            <a:ext cx="2075688" cy="324612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9701784" y="1600200"/>
            <a:ext cx="1801368" cy="1371600"/>
          </a:xfrm>
          <a:prstGeom prst="roundRect">
            <a:avLst>
              <a:gd name="adj" fmla="val 6667"/>
            </a:avLst>
          </a:prstGeom>
          <a:solidFill>
            <a:srgbClr val="2F6BFF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43" name="Image 4" descr="ab_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3828" y="1737360"/>
            <a:ext cx="1097280" cy="109728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9701784" y="3108960"/>
            <a:ext cx="685800" cy="246888"/>
          </a:xfrm>
          <a:prstGeom prst="roundRect">
            <a:avLst>
              <a:gd name="adj" fmla="val 50000"/>
            </a:avLst>
          </a:prstGeom>
          <a:solidFill>
            <a:srgbClr val="17131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9701784" y="310896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2티어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11183112" y="307238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F6B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e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9701784" y="34290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낙하산</a:t>
            </a:r>
            <a:endParaRPr lang="en-US" sz="1700" dirty="0"/>
          </a:p>
        </p:txBody>
      </p:sp>
      <p:sp>
        <p:nvSpPr>
          <p:cNvPr id="48" name="Text 41"/>
          <p:cNvSpPr txBox="1"/>
          <p:nvPr/>
        </p:nvSpPr>
        <p:spPr>
          <a:xfrm>
            <a:off x="9701784" y="379476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곳에서 긴 활강</a:t>
            </a:r>
            <a:endParaRPr lang="en-US" sz="1100" dirty="0"/>
          </a:p>
        </p:txBody>
      </p:sp>
      <p:sp>
        <p:nvSpPr>
          <p:cNvPr id="49" name="Text 42"/>
          <p:cNvSpPr txBox="1"/>
          <p:nvPr/>
        </p:nvSpPr>
        <p:spPr>
          <a:xfrm>
            <a:off x="9701784" y="405079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완만한 하강과 방향 조절. 상승기류로 고도 확보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548640" y="493776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51" name="Text 44"/>
          <p:cNvSpPr txBox="1"/>
          <p:nvPr/>
        </p:nvSpPr>
        <p:spPr>
          <a:xfrm>
            <a:off x="731520" y="5047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규칙</a:t>
            </a:r>
            <a:endParaRPr lang="en-US" sz="1300" dirty="0"/>
          </a:p>
        </p:txBody>
      </p:sp>
      <p:pic>
        <p:nvPicPr>
          <p:cNvPr id="52" name="Image 5" descr="loop_bo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440680"/>
            <a:ext cx="548640" cy="548640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1389888" y="54132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보스를 잡아야만 획득</a:t>
            </a:r>
            <a:endParaRPr lang="en-US" sz="1200" dirty="0"/>
          </a:p>
        </p:txBody>
      </p:sp>
      <p:sp>
        <p:nvSpPr>
          <p:cNvPr id="54" name="Text 46"/>
          <p:cNvSpPr txBox="1"/>
          <p:nvPr/>
        </p:nvSpPr>
        <p:spPr>
          <a:xfrm>
            <a:off x="1389888" y="56875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보스 → 1티어 · 초반 보스 1 → 1티어 · 초반 보스 2 → 2티어</a:t>
            </a:r>
            <a:endParaRPr lang="en-US" sz="1050" dirty="0"/>
          </a:p>
        </p:txBody>
      </p:sp>
      <p:pic>
        <p:nvPicPr>
          <p:cNvPr id="55" name="Image 6" descr="feat_rou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7408" y="5440680"/>
            <a:ext cx="548640" cy="548640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5065776" y="54132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고른 스킬이 길을 정함</a:t>
            </a:r>
            <a:endParaRPr lang="en-US" sz="1200" dirty="0"/>
          </a:p>
        </p:txBody>
      </p:sp>
      <p:sp>
        <p:nvSpPr>
          <p:cNvPr id="57" name="Text 48"/>
          <p:cNvSpPr txBox="1"/>
          <p:nvPr/>
        </p:nvSpPr>
        <p:spPr>
          <a:xfrm>
            <a:off x="5065776" y="56875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1티어는 a·b·c 중 서로 다른 2개, 2티어는 d·e 중 1개만</a:t>
            </a:r>
            <a:endParaRPr lang="en-US" sz="1050" dirty="0"/>
          </a:p>
        </p:txBody>
      </p:sp>
      <p:pic>
        <p:nvPicPr>
          <p:cNvPr id="58" name="Image 7" descr="loop_ski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3296" y="5440680"/>
            <a:ext cx="548640" cy="548640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8741664" y="54132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얻으면 계속 보유</a:t>
            </a:r>
            <a:endParaRPr lang="en-US" sz="1200" dirty="0"/>
          </a:p>
        </p:txBody>
      </p:sp>
      <p:sp>
        <p:nvSpPr>
          <p:cNvPr id="60" name="Text 50"/>
          <p:cNvSpPr txBox="1"/>
          <p:nvPr/>
        </p:nvSpPr>
        <p:spPr>
          <a:xfrm>
            <a:off x="8741664" y="56875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이동해도 소모되지 않음. 재방문 추가 획득 없음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성장 시스템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3.3 전투 스킬 (탐험 보상)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276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C9D1C8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사용</a:t>
            </a:r>
            <a:endParaRPr lang="en-US" sz="1050" dirty="0"/>
          </a:p>
        </p:txBody>
      </p:sp>
      <p:pic>
        <p:nvPicPr>
          <p:cNvPr id="8" name="Image 0" descr="cb_comb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157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3타 베기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441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올려 베기 → 뒤돌기 → 회전 베기 루프</a:t>
            </a:r>
            <a:endParaRPr lang="en-US" sz="1050" dirty="0"/>
          </a:p>
        </p:txBody>
      </p:sp>
      <p:pic>
        <p:nvPicPr>
          <p:cNvPr id="11" name="Image 1" descr="cb_s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7180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026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공중 회전 베기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310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공중에서 몸을 말아 세로 한 바퀴</a:t>
            </a:r>
            <a:endParaRPr lang="en-US" sz="1050" dirty="0"/>
          </a:p>
        </p:txBody>
      </p:sp>
      <p:pic>
        <p:nvPicPr>
          <p:cNvPr id="14" name="Image 2" descr="cb_da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4048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38953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4178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동작 없이 튀어 나감. 공중 1회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370832" y="3108960"/>
            <a:ext cx="402336" cy="914"/>
          </a:xfrm>
          <a:prstGeom prst="line">
            <a:avLst/>
          </a:prstGeom>
          <a:noFill/>
          <a:ln w="38100">
            <a:solidFill>
              <a:srgbClr val="17131F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4846320" y="1463040"/>
            <a:ext cx="6793992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29200" y="16276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029200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탐험으로 발견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029200" y="210312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FFF6D6"/>
          </a:solidFill>
          <a:ln w="12700">
            <a:solidFill>
              <a:srgbClr val="17131F"/>
            </a:solidFill>
            <a:prstDash val="solid"/>
          </a:ln>
        </p:spPr>
      </p:sp>
      <p:pic>
        <p:nvPicPr>
          <p:cNvPr id="22" name="Image 3" descr="cb_plun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286000"/>
            <a:ext cx="914400" cy="9144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12064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내려찍기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5166360" y="36758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공중 ↓ + 공격. 발밑으로 꽂고 충격파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196328" y="210312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FFF6D6"/>
          </a:solidFill>
          <a:ln w="12700">
            <a:solidFill>
              <a:srgbClr val="17131F"/>
            </a:solidFill>
            <a:prstDash val="solid"/>
          </a:ln>
        </p:spPr>
      </p:sp>
      <p:pic>
        <p:nvPicPr>
          <p:cNvPr id="26" name="Image 4" descr="cb_char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2286000"/>
            <a:ext cx="914400" cy="9144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87768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충전 돌진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7333488" y="36758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길게 눌러 모았다 섬광과 함께 돌진 베기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9363456" y="210312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EEF0EA"/>
          </a:solidFill>
          <a:ln w="12700">
            <a:solidFill>
              <a:srgbClr val="17131F"/>
            </a:solidFill>
            <a:prstDash val="dash"/>
          </a:ln>
        </p:spPr>
      </p:sp>
      <p:sp>
        <p:nvSpPr>
          <p:cNvPr id="30" name="Shape 23"/>
          <p:cNvSpPr/>
          <p:nvPr/>
        </p:nvSpPr>
        <p:spPr>
          <a:xfrm>
            <a:off x="9912096" y="22860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dash"/>
          </a:ln>
        </p:spPr>
      </p:sp>
      <p:sp>
        <p:nvSpPr>
          <p:cNvPr id="31" name="Text 24"/>
          <p:cNvSpPr txBox="1"/>
          <p:nvPr/>
        </p:nvSpPr>
        <p:spPr>
          <a:xfrm>
            <a:off x="9912096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E667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?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9454896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기술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9500616" y="36758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지역마다 1~2개 배치 예정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48640" y="4956048"/>
            <a:ext cx="11091672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35" name="Image 5" descr="secr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340096"/>
            <a:ext cx="566928" cy="56692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417320" y="5340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숨은 방</a:t>
            </a:r>
            <a:endParaRPr lang="en-US" sz="1250" dirty="0"/>
          </a:p>
        </p:txBody>
      </p:sp>
      <p:sp>
        <p:nvSpPr>
          <p:cNvPr id="37" name="Text 29"/>
          <p:cNvSpPr txBox="1"/>
          <p:nvPr/>
        </p:nvSpPr>
        <p:spPr>
          <a:xfrm>
            <a:off x="1417320" y="5614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부서지는 벽·좁은 틈 너머</a:t>
            </a:r>
            <a:endParaRPr lang="en-US" sz="1050" dirty="0"/>
          </a:p>
        </p:txBody>
      </p:sp>
      <p:pic>
        <p:nvPicPr>
          <p:cNvPr id="38" name="Image 6" descr="ches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5340096"/>
            <a:ext cx="566928" cy="566928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931920" y="5340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보물 상자</a:t>
            </a:r>
            <a:endParaRPr lang="en-US" sz="1250" dirty="0"/>
          </a:p>
        </p:txBody>
      </p:sp>
      <p:sp>
        <p:nvSpPr>
          <p:cNvPr id="40" name="Text 31"/>
          <p:cNvSpPr txBox="1"/>
          <p:nvPr/>
        </p:nvSpPr>
        <p:spPr>
          <a:xfrm>
            <a:off x="3931920" y="5614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스킬로 닿는 외진 곳</a:t>
            </a:r>
            <a:endParaRPr lang="en-US" sz="1050" dirty="0"/>
          </a:p>
        </p:txBody>
      </p:sp>
      <p:pic>
        <p:nvPicPr>
          <p:cNvPr id="41" name="Image 7" descr="explore_a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5340096"/>
            <a:ext cx="566928" cy="56692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446520" y="5340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탐험 목표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6446520" y="5614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맵별 탐험 목표 달성 보상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731520" y="5047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장소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8229600" y="5138928"/>
            <a:ext cx="0" cy="987552"/>
          </a:xfrm>
          <a:prstGeom prst="line">
            <a:avLst/>
          </a:prstGeom>
          <a:noFill/>
          <a:ln w="15875">
            <a:solidFill>
              <a:srgbClr val="C9D1C8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8412480" y="5047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8412480" y="534009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 스킬은 길을 막지 않음. 맵 잠금은 이동 스킬만 담당하고, 전투 스킬은 싸우는 방법을 넓히는 선택 보상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lack Ha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기사쥐 컨셉 기획서 V1.1</dc:title>
  <dc:subject>PptxGenJS Presentation</dc:subject>
  <dc:creator>정승운</dc:creator>
  <cp:lastModifiedBy>정승운</cp:lastModifiedBy>
  <cp:revision>1</cp:revision>
  <dcterms:created xsi:type="dcterms:W3CDTF">2026-10-30T00:57:08Z</dcterms:created>
  <dcterms:modified xsi:type="dcterms:W3CDTF">2026-10-30T00:57:08Z</dcterms:modified>
</cp:coreProperties>
</file>